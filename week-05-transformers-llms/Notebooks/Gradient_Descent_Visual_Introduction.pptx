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34170ecf9b484f" /><Relationship Type="http://schemas.openxmlformats.org/officeDocument/2006/relationships/extended-properties" Target="/docProps/app.xml" Id="Rca52699a88de4519" /><Relationship Type="http://schemas.openxmlformats.org/officeDocument/2006/relationships/officeDocument" Target="/ppt/presentation.xml" Id="R1f8af621b80a4bd2" /></Relationships>
</file>

<file path=ppt/presentation.xml><?xml version="1.0" encoding="utf-8"?>
<p:presentation xmlns:p="http://schemas.openxmlformats.org/presentationml/2006/main">
  <p:sldMasterIdLst>
    <p:sldMasterId xmlns:r="http://schemas.openxmlformats.org/officeDocument/2006/relationships" id="2147483648" r:id="R24a8cc629c95455a"/>
  </p:sldMasterIdLst>
  <p:notesMasterIdLst>
    <p:notesMasterId xmlns:r="http://schemas.openxmlformats.org/officeDocument/2006/relationships" r:id="R62930f54bc3a46dc"/>
  </p:notesMasterIdLst>
  <p:sldIdLst>
    <p:sldId xmlns:r="http://schemas.openxmlformats.org/officeDocument/2006/relationships" id="256" r:id="R39d70b6bc60f4001"/>
    <p:sldId xmlns:r="http://schemas.openxmlformats.org/officeDocument/2006/relationships" id="257" r:id="Rf2c95acfa31a4cf5"/>
    <p:sldId xmlns:r="http://schemas.openxmlformats.org/officeDocument/2006/relationships" id="258" r:id="R459c50baa12c4670"/>
    <p:sldId xmlns:r="http://schemas.openxmlformats.org/officeDocument/2006/relationships" id="259" r:id="Re1f444ba2a2445bf"/>
    <p:sldId xmlns:r="http://schemas.openxmlformats.org/officeDocument/2006/relationships" id="260" r:id="R14f38383c8ac41a2"/>
    <p:sldId xmlns:r="http://schemas.openxmlformats.org/officeDocument/2006/relationships" id="261" r:id="Rfe7d0e8e5e8f48b0"/>
    <p:sldId xmlns:r="http://schemas.openxmlformats.org/officeDocument/2006/relationships" id="262" r:id="R98b20b4fb26a4231"/>
    <p:sldId xmlns:r="http://schemas.openxmlformats.org/officeDocument/2006/relationships" id="263" r:id="R3c99a2049f5d424b"/>
    <p:sldId xmlns:r="http://schemas.openxmlformats.org/officeDocument/2006/relationships" id="264" r:id="R1e261ec7901047be"/>
    <p:sldId xmlns:r="http://schemas.openxmlformats.org/officeDocument/2006/relationships" id="265" r:id="Raef8995f71a34adb"/>
    <p:sldId xmlns:r="http://schemas.openxmlformats.org/officeDocument/2006/relationships" id="266" r:id="R4fcd58c1b3164fc0"/>
    <p:sldId xmlns:r="http://schemas.openxmlformats.org/officeDocument/2006/relationships" id="267" r:id="Rb71884040d16459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9a78cb0ea04cff" /><Relationship Type="http://schemas.openxmlformats.org/officeDocument/2006/relationships/slideMaster" Target="/ppt/slideMasters/slideMaster1.xml" Id="R24a8cc629c95455a" /><Relationship Type="http://schemas.openxmlformats.org/officeDocument/2006/relationships/notesMaster" Target="/ppt/notesMasters/notesMaster1.xml" Id="R62930f54bc3a46dc" /><Relationship Type="http://schemas.openxmlformats.org/officeDocument/2006/relationships/presProps" Target="/ppt/presProps.xml" Id="R0fc61060a08c4d9e" /><Relationship Type="http://schemas.openxmlformats.org/officeDocument/2006/relationships/tableStyles" Target="/ppt/tableStyles.xml" Id="R7f67b6f8b14841e6" /><Relationship Type="http://schemas.openxmlformats.org/officeDocument/2006/relationships/slide" Target="/ppt/slides/slide1.xml" Id="R39d70b6bc60f4001" /><Relationship Type="http://schemas.openxmlformats.org/officeDocument/2006/relationships/slide" Target="/ppt/slides/slide2.xml" Id="Rf2c95acfa31a4cf5" /><Relationship Type="http://schemas.openxmlformats.org/officeDocument/2006/relationships/slide" Target="/ppt/slides/slide3.xml" Id="R459c50baa12c4670" /><Relationship Type="http://schemas.openxmlformats.org/officeDocument/2006/relationships/slide" Target="/ppt/slides/slide4.xml" Id="Re1f444ba2a2445bf" /><Relationship Type="http://schemas.openxmlformats.org/officeDocument/2006/relationships/slide" Target="/ppt/slides/slide5.xml" Id="R14f38383c8ac41a2" /><Relationship Type="http://schemas.openxmlformats.org/officeDocument/2006/relationships/slide" Target="/ppt/slides/slide6.xml" Id="Rfe7d0e8e5e8f48b0" /><Relationship Type="http://schemas.openxmlformats.org/officeDocument/2006/relationships/slide" Target="/ppt/slides/slide7.xml" Id="R98b20b4fb26a4231" /><Relationship Type="http://schemas.openxmlformats.org/officeDocument/2006/relationships/slide" Target="/ppt/slides/slide8.xml" Id="R3c99a2049f5d424b" /><Relationship Type="http://schemas.openxmlformats.org/officeDocument/2006/relationships/slide" Target="/ppt/slides/slide9.xml" Id="R1e261ec7901047be" /><Relationship Type="http://schemas.openxmlformats.org/officeDocument/2006/relationships/slide" Target="/ppt/slides/slide10.xml" Id="Raef8995f71a34adb" /><Relationship Type="http://schemas.openxmlformats.org/officeDocument/2006/relationships/slide" Target="/ppt/slides/slide11.xml" Id="R4fcd58c1b3164fc0" /><Relationship Type="http://schemas.openxmlformats.org/officeDocument/2006/relationships/slide" Target="/ppt/slides/slide12.xml" Id="Rb71884040d16459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863ec3ded845d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00b83f8b244209" /><Relationship Type="http://schemas.openxmlformats.org/officeDocument/2006/relationships/notesMaster" Target="/ppt/notesMasters/notesMaster1.xml" Id="Rce8230ed563a45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46c270c62ce4abc" /><Relationship Type="http://schemas.openxmlformats.org/officeDocument/2006/relationships/notesMaster" Target="/ppt/notesMasters/notesMaster1.xml" Id="R8402b3a0636449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703faf985d4d4afd" /><Relationship Type="http://schemas.openxmlformats.org/officeDocument/2006/relationships/notesMaster" Target="/ppt/notesMasters/notesMaster1.xml" Id="R0545c9d398894d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609599714943c3" /><Relationship Type="http://schemas.openxmlformats.org/officeDocument/2006/relationships/notesMaster" Target="/ppt/notesMasters/notesMaster1.xml" Id="Rd1c8abc4039145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5c4e9b85274306" /><Relationship Type="http://schemas.openxmlformats.org/officeDocument/2006/relationships/notesMaster" Target="/ppt/notesMasters/notesMaster1.xml" Id="R01b0cc36fb884c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032524a05b4c4f" /><Relationship Type="http://schemas.openxmlformats.org/officeDocument/2006/relationships/notesMaster" Target="/ppt/notesMasters/notesMaster1.xml" Id="R8fc72da8074144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693d22780b4086" /><Relationship Type="http://schemas.openxmlformats.org/officeDocument/2006/relationships/notesMaster" Target="/ppt/notesMasters/notesMaster1.xml" Id="Re1a4970b4e2c46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73355b50d648b3" /><Relationship Type="http://schemas.openxmlformats.org/officeDocument/2006/relationships/notesMaster" Target="/ppt/notesMasters/notesMaster1.xml" Id="R523b4ac5dfa341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c0207537e904f11" /><Relationship Type="http://schemas.openxmlformats.org/officeDocument/2006/relationships/notesMaster" Target="/ppt/notesMasters/notesMaster1.xml" Id="R88b0597188014a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b4c14c6c7a24316" /><Relationship Type="http://schemas.openxmlformats.org/officeDocument/2006/relationships/notesMaster" Target="/ppt/notesMasters/notesMaster1.xml" Id="R27246d74af854f8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e659e6e0404862" /><Relationship Type="http://schemas.openxmlformats.org/officeDocument/2006/relationships/notesMaster" Target="/ppt/notesMasters/notesMaster1.xml" Id="Re7d3dbdade4540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c1405ff25940a8" /><Relationship Type="http://schemas.openxmlformats.org/officeDocument/2006/relationships/notesMaster" Target="/ppt/notesMasters/notesMaster1.xml" Id="R4ca7aeba88a64b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0–2 minutes (2 minutes)</a:t>
            </a:r>
          </a:p>
          <a:p xmlns:a="http://schemas.openxmlformats.org/drawingml/2006/main">
            <a:r>
              <a:t/>
            </a:r>
          </a:p>
          <a:p xmlns:a="http://schemas.openxmlformats.org/drawingml/2006/main">
            <a:r>
              <a:t>TEACH</a:t>
            </a:r>
          </a:p>
          <a:p xmlns:a="http://schemas.openxmlformats.org/drawingml/2006/main">
            <a:r>
              <a:t>The dots are fixed observations. The faint lines sample 80 possible coefficient pairs; there are infinitely many pairs. They do not represent extra observations. The green line is the exact fit for these deliberately simple noiseless data: B₀=1 and B₁=2. In real data the best line usually has nonzero error. Explain that training searches parameter space.</a:t>
            </a:r>
          </a:p>
          <a:p xmlns:a="http://schemas.openxmlformats.org/drawingml/2006/main">
            <a:r>
              <a:t/>
            </a:r>
          </a:p>
          <a:p xmlns:a="http://schemas.openxmlformats.org/drawingml/2006/main">
            <a:r>
              <a:t>ASK</a:t>
            </a:r>
          </a:p>
          <a:p xmlns:a="http://schemas.openxmlformats.org/drawingml/2006/main">
            <a:r>
              <a:t>What changes when we try another line?</a:t>
            </a:r>
          </a:p>
          <a:p xmlns:a="http://schemas.openxmlformats.org/drawingml/2006/main">
            <a:r>
              <a:t/>
            </a:r>
          </a:p>
          <a:p xmlns:a="http://schemas.openxmlformats.org/drawingml/2006/main">
            <a:r>
              <a:t>EXPECTED RESPONSE / DEBRIEF</a:t>
            </a:r>
          </a:p>
          <a:p xmlns:a="http://schemas.openxmlformats.org/drawingml/2006/main">
            <a:r>
              <a:t>The two parameters B₀ and B₁. The observed x and y values remain fixed.</a:t>
            </a:r>
          </a:p>
          <a:p xmlns:a="http://schemas.openxmlformats.org/drawingml/2006/main">
            <a:r>
              <a:t/>
            </a:r>
          </a:p>
          <a:p xmlns:a="http://schemas.openxmlformats.org/drawingml/2006/main">
            <a:r>
              <a:t>TRANSITION</a:t>
            </a:r>
          </a:p>
          <a:p xmlns:a="http://schemas.openxmlformats.org/drawingml/2006/main">
            <a:r>
              <a:t>We need a common score to compare lines.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2–5 minutes (3 minutes)</a:t>
            </a:r>
          </a:p>
          <a:p xmlns:a="http://schemas.openxmlformats.org/drawingml/2006/main">
            <a:r>
              <a:t/>
            </a:r>
          </a:p>
          <a:p xmlns:a="http://schemas.openxmlformats.org/drawingml/2006/main">
            <a:r>
              <a:t>TEACH</a:t>
            </a:r>
          </a:p>
          <a:p xmlns:a="http://schemas.openxmlformats.org/drawingml/2006/main">
            <a:r>
              <a:t>Line A is B₀=0,B₁=0. Line B is B₀=0.6,B₁=13/15. Their exact MSE values are 35/3 and 3.207407. Squaring prevents positive and negative errors from cancelling, and gives larger errors more weight. n is the number of observations, three here. We use MSE without a factor of one-half. The green exact fit from slide 1 would have MSE zero.</a:t>
            </a:r>
          </a:p>
          <a:p xmlns:a="http://schemas.openxmlformats.org/drawingml/2006/main">
            <a:r>
              <a:t/>
            </a:r>
          </a:p>
          <a:p xmlns:a="http://schemas.openxmlformats.org/drawingml/2006/main">
            <a:r>
              <a:t>ASK</a:t>
            </a:r>
          </a:p>
          <a:p xmlns:a="http://schemas.openxmlformats.org/drawingml/2006/main">
            <a:r>
              <a:t>Why use the same loss function to compare both lines?</a:t>
            </a:r>
          </a:p>
          <a:p xmlns:a="http://schemas.openxmlformats.org/drawingml/2006/main">
            <a:r>
              <a:t/>
            </a:r>
          </a:p>
          <a:p xmlns:a="http://schemas.openxmlformats.org/drawingml/2006/main">
            <a:r>
              <a:t>EXPECTED RESPONSE / DEBRIEF</a:t>
            </a:r>
          </a:p>
          <a:p xmlns:a="http://schemas.openxmlformats.org/drawingml/2006/main">
            <a:r>
              <a:t>It puts both candidates on the same measurement scale.</a:t>
            </a:r>
          </a:p>
          <a:p xmlns:a="http://schemas.openxmlformats.org/drawingml/2006/main">
            <a:r>
              <a:t/>
            </a:r>
          </a:p>
          <a:p xmlns:a="http://schemas.openxmlformats.org/drawingml/2006/main">
            <a:r>
              <a:t>TRANSITION</a:t>
            </a:r>
          </a:p>
          <a:p xmlns:a="http://schemas.openxmlformats.org/drawingml/2006/main">
            <a:r>
              <a:t>Use calculus to find a direction that lowers this score.</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5–8 minutes (3 minutes)</a:t>
            </a:r>
          </a:p>
          <a:p xmlns:a="http://schemas.openxmlformats.org/drawingml/2006/main">
            <a:r>
              <a:t/>
            </a:r>
          </a:p>
          <a:p xmlns:a="http://schemas.openxmlformats.org/drawingml/2006/main">
            <a:r>
              <a:t>TEACH</a:t>
            </a:r>
          </a:p>
          <a:p xmlns:a="http://schemas.openxmlformats.org/drawingml/2006/main">
            <a:r>
              <a:t>This is a top-down view of the convex MSE bowl. Each contour joins coefficient pairs with equal MSE; its number is the loss. The two derivatives form the gradient. The full expression B₀+B₁xᵢ−yᵢ is prediction minus actual. The following slide derives each partial derivative explicitly by the chain rule. Evaluate both derivatives at the current B₀,B₁ using the fixed training observations. An input x alone does not supply the loss or gradient; the target y is also needed. The negative gradient is a local downhill direction. The update formula applies to j=0 and j=1.</a:t>
            </a:r>
          </a:p>
          <a:p xmlns:a="http://schemas.openxmlformats.org/drawingml/2006/main">
            <a:r>
              <a:t/>
            </a:r>
          </a:p>
          <a:p xmlns:a="http://schemas.openxmlformats.org/drawingml/2006/main">
            <a:r>
              <a:t>ASK</a:t>
            </a:r>
          </a:p>
          <a:p xmlns:a="http://schemas.openxmlformats.org/drawingml/2006/main">
            <a:r>
              <a:t>Is the derivative with respect to B₁ the same thing as B₁ itself?</a:t>
            </a:r>
          </a:p>
          <a:p xmlns:a="http://schemas.openxmlformats.org/drawingml/2006/main">
            <a:r>
              <a:t/>
            </a:r>
          </a:p>
          <a:p xmlns:a="http://schemas.openxmlformats.org/drawingml/2006/main">
            <a:r>
              <a:t>EXPECTED RESPONSE / DEBRIEF</a:t>
            </a:r>
          </a:p>
          <a:p xmlns:a="http://schemas.openxmlformats.org/drawingml/2006/main">
            <a:r>
              <a:t>No. B₁ is the slope of the fitted line; this derivative is the sensitivity of loss to B₁.</a:t>
            </a:r>
          </a:p>
          <a:p xmlns:a="http://schemas.openxmlformats.org/drawingml/2006/main">
            <a:r>
              <a:t/>
            </a:r>
          </a:p>
          <a:p xmlns:a="http://schemas.openxmlformats.org/drawingml/2006/main">
            <a:r>
              <a:t>TRANSITION</a:t>
            </a:r>
          </a:p>
          <a:p xmlns:a="http://schemas.openxmlformats.org/drawingml/2006/main">
            <a:r>
              <a:t>Derive these two formulas using the chain rule.</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8–11 minutes (3 minutes)</a:t>
            </a:r>
          </a:p>
          <a:p xmlns:a="http://schemas.openxmlformats.org/drawingml/2006/main">
            <a:r>
              <a:t/>
            </a:r>
          </a:p>
          <a:p xmlns:a="http://schemas.openxmlformats.org/drawingml/2006/main">
            <a:r>
              <a:t>TEACH</a:t>
            </a:r>
          </a:p>
          <a:p xmlns:a="http://schemas.openxmlformats.org/drawingml/2006/main">
            <a:r>
              <a:t>We use the full expression B₀+B₁xᵢ−yᵢ throughout. Bring the partial derivative inside the finite sum and keep the constant 1/n. The derivative of a square is twice the expression times its own derivative. For B₀, the derivative of B₀+B₁xᵢ−yᵢ is 1+0−0=1. For B₁ it is 0+xᵢ−0=xᵢ. The observed values xᵢ,yᵢ and sample count n remain fixed during differentiation. Simplify the constant factor to 2/n. These are sensitivities of loss, not the slope of the fitted line itself.</a:t>
            </a:r>
          </a:p>
          <a:p xmlns:a="http://schemas.openxmlformats.org/drawingml/2006/main">
            <a:r>
              <a:t/>
            </a:r>
          </a:p>
          <a:p xmlns:a="http://schemas.openxmlformats.org/drawingml/2006/main">
            <a:r>
              <a:t>ASK</a:t>
            </a:r>
          </a:p>
          <a:p xmlns:a="http://schemas.openxmlformats.org/drawingml/2006/main">
            <a:r>
              <a:t>Why does the B₁ derivative contain an additional xᵢ?</a:t>
            </a:r>
          </a:p>
          <a:p xmlns:a="http://schemas.openxmlformats.org/drawingml/2006/main">
            <a:r>
              <a:t/>
            </a:r>
          </a:p>
          <a:p xmlns:a="http://schemas.openxmlformats.org/drawingml/2006/main">
            <a:r>
              <a:t>EXPECTED RESPONSE / DEBRIEF</a:t>
            </a:r>
          </a:p>
          <a:p xmlns:a="http://schemas.openxmlformats.org/drawingml/2006/main">
            <a:r>
              <a:t>Because the derivative of B₁xᵢ with respect to B₁ is xᵢ.</a:t>
            </a:r>
          </a:p>
          <a:p xmlns:a="http://schemas.openxmlformats.org/drawingml/2006/main">
            <a:r>
              <a:t/>
            </a:r>
          </a:p>
          <a:p xmlns:a="http://schemas.openxmlformats.org/drawingml/2006/main">
            <a:r>
              <a:t>TRANSITION</a:t>
            </a:r>
          </a:p>
          <a:p xmlns:a="http://schemas.openxmlformats.org/drawingml/2006/main">
            <a:r>
              <a:t>Substitute the current parameter values and observations, then apply the learning rate.</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11–14 minutes (3 minutes)</a:t>
            </a:r>
          </a:p>
          <a:p xmlns:a="http://schemas.openxmlformats.org/drawingml/2006/main">
            <a:r>
              <a:t/>
            </a:r>
          </a:p>
          <a:p xmlns:a="http://schemas.openxmlformats.org/drawingml/2006/main">
            <a:r>
              <a:t>TEACH</a:t>
            </a:r>
          </a:p>
          <a:p xmlns:a="http://schemas.openxmlformats.org/drawingml/2006/main">
            <a:r>
              <a:t>The coordinate pair (0,0) is a parameter starting point, not a training observation. Use x values 0,1,2 and y values 1,3,5 to calculate the errors. The intercept gradient is −6; the slope gradient is −26/3. Multiplying the negative gradient by 0.1 gives the step (0.6,13/15). Both parameters update simultaneously from the same old values. The plotted arrow shows this parameter change. For mini-batch or stochastic training we would use a subset or a single paired x,y observation, but this example uses all three.</a:t>
            </a:r>
          </a:p>
          <a:p xmlns:a="http://schemas.openxmlformats.org/drawingml/2006/main">
            <a:r>
              <a:t/>
            </a:r>
          </a:p>
          <a:p xmlns:a="http://schemas.openxmlformats.org/drawingml/2006/main">
            <a:r>
              <a:t>ASK</a:t>
            </a:r>
          </a:p>
          <a:p xmlns:a="http://schemas.openxmlformats.org/drawingml/2006/main">
            <a:r>
              <a:t>Do we reuse these same two derivatives for every subsequent step?</a:t>
            </a:r>
          </a:p>
          <a:p xmlns:a="http://schemas.openxmlformats.org/drawingml/2006/main">
            <a:r>
              <a:t/>
            </a:r>
          </a:p>
          <a:p xmlns:a="http://schemas.openxmlformats.org/drawingml/2006/main">
            <a:r>
              <a:t>EXPECTED RESPONSE / DEBRIEF</a:t>
            </a:r>
          </a:p>
          <a:p xmlns:a="http://schemas.openxmlformats.org/drawingml/2006/main">
            <a:r>
              <a:t>No. Recalculate them at the new parameter values.</a:t>
            </a:r>
          </a:p>
          <a:p xmlns:a="http://schemas.openxmlformats.org/drawingml/2006/main">
            <a:r>
              <a:t/>
            </a:r>
          </a:p>
          <a:p xmlns:a="http://schemas.openxmlformats.org/drawingml/2006/main">
            <a:r>
              <a:t>TRANSITION</a:t>
            </a:r>
          </a:p>
          <a:p xmlns:a="http://schemas.openxmlformats.org/drawingml/2006/main">
            <a:r>
              <a:t>The size of the step matters as well as its direction.</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14–16 minutes (2 minutes)</a:t>
            </a:r>
          </a:p>
          <a:p xmlns:a="http://schemas.openxmlformats.org/drawingml/2006/main">
            <a:r>
              <a:t/>
            </a:r>
          </a:p>
          <a:p xmlns:a="http://schemas.openxmlformats.org/drawingml/2006/main">
            <a:r>
              <a:t>TEACH</a:t>
            </a:r>
          </a:p>
          <a:p xmlns:a="http://schemas.openxmlformats.org/drawingml/2006/main">
            <a:r>
              <a:t>Every plotted value is calculated using full-batch gradient descent from B₀=B₁=0. The rates are 0.005,0.1,0.5. For this quadratic, 0.5 is unstable and produces growing oscillations in parameter space. Small overshoots do not necessarily imply divergence, but repeated excessively large updates can diverge. A log vertical scale allows reductions and growth over many orders of magnitude to share an axis. Thirty updates are shown. The 0.1 value works for this example; it is not a universal recommendation.</a:t>
            </a:r>
          </a:p>
          <a:p xmlns:a="http://schemas.openxmlformats.org/drawingml/2006/main">
            <a:r>
              <a:t/>
            </a:r>
          </a:p>
          <a:p xmlns:a="http://schemas.openxmlformats.org/drawingml/2006/main">
            <a:r>
              <a:t>ASK</a:t>
            </a:r>
          </a:p>
          <a:p xmlns:a="http://schemas.openxmlformats.org/drawingml/2006/main">
            <a:r>
              <a:t>What would you try if loss repeatedly grows during training?</a:t>
            </a:r>
          </a:p>
          <a:p xmlns:a="http://schemas.openxmlformats.org/drawingml/2006/main">
            <a:r>
              <a:t/>
            </a:r>
          </a:p>
          <a:p xmlns:a="http://schemas.openxmlformats.org/drawingml/2006/main">
            <a:r>
              <a:t>EXPECTED RESPONSE / DEBRIEF</a:t>
            </a:r>
          </a:p>
          <a:p xmlns:a="http://schemas.openxmlformats.org/drawingml/2006/main">
            <a:r>
              <a:t>Reduce the learning rate, while also checking the data and implementation.</a:t>
            </a:r>
          </a:p>
          <a:p xmlns:a="http://schemas.openxmlformats.org/drawingml/2006/main">
            <a:r>
              <a:t/>
            </a:r>
          </a:p>
          <a:p xmlns:a="http://schemas.openxmlformats.org/drawingml/2006/main">
            <a:r>
              <a:t>TRANSITION</a:t>
            </a:r>
          </a:p>
          <a:p xmlns:a="http://schemas.openxmlformats.org/drawingml/2006/main">
            <a:r>
              <a:t>The same basic process trains larger neural networks, with additional practical choices.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16–18 minutes (2 minutes)</a:t>
            </a:r>
          </a:p>
          <a:p xmlns:a="http://schemas.openxmlformats.org/drawingml/2006/main">
            <a:r>
              <a:t/>
            </a:r>
          </a:p>
          <a:p xmlns:a="http://schemas.openxmlformats.org/drawingml/2006/main">
            <a:r>
              <a:t>TEACH</a:t>
            </a:r>
          </a:p>
          <a:p xmlns:a="http://schemas.openxmlformats.org/drawingml/2006/main">
            <a:r>
              <a:t>The diagram has one scalar data input and one scalar output. The bias is a learned offset, not a second data feature. Weighted sum and activation are two operations within one neuron, not two neurons. Relate w to B₁ and b to B₀. Sigmoid converts any finite real weighted sum to an output strictly between zero and one. Here e in the exponential is Euler’s number, not error shorthand.</a:t>
            </a:r>
          </a:p>
          <a:p xmlns:a="http://schemas.openxmlformats.org/drawingml/2006/main">
            <a:r>
              <a:t/>
            </a:r>
          </a:p>
          <a:p xmlns:a="http://schemas.openxmlformats.org/drawingml/2006/main">
            <a:r>
              <a:t>ASK</a:t>
            </a:r>
          </a:p>
          <a:p xmlns:a="http://schemas.openxmlformats.org/drawingml/2006/main">
            <a:r>
              <a:t>What is new compared with the linear prediction?</a:t>
            </a:r>
          </a:p>
          <a:p xmlns:a="http://schemas.openxmlformats.org/drawingml/2006/main">
            <a:r>
              <a:t/>
            </a:r>
          </a:p>
          <a:p xmlns:a="http://schemas.openxmlformats.org/drawingml/2006/main">
            <a:r>
              <a:t>EXPECTED RESPONSE / DEBRIEF</a:t>
            </a:r>
          </a:p>
          <a:p xmlns:a="http://schemas.openxmlformats.org/drawingml/2006/main">
            <a:r>
              <a:t>The sigmoid activation applied after the weighted sum.</a:t>
            </a:r>
          </a:p>
          <a:p xmlns:a="http://schemas.openxmlformats.org/drawingml/2006/main">
            <a:r>
              <a:t/>
            </a:r>
          </a:p>
          <a:p xmlns:a="http://schemas.openxmlformats.org/drawingml/2006/main">
            <a:r>
              <a:t>TRANSITION</a:t>
            </a:r>
          </a:p>
          <a:p xmlns:a="http://schemas.openxmlformats.org/drawingml/2006/main">
            <a:r>
              <a:t>Differentiate through this additional operation.</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18–22 minutes (4 minutes)</a:t>
            </a:r>
          </a:p>
          <a:p xmlns:a="http://schemas.openxmlformats.org/drawingml/2006/main">
            <a:r>
              <a:t/>
            </a:r>
          </a:p>
          <a:p xmlns:a="http://schemas.openxmlformats.org/drawingml/2006/main">
            <a:r>
              <a:t>TEACH</a:t>
            </a:r>
          </a:p>
          <a:p xmlns:a="http://schemas.openxmlformats.org/drawingml/2006/main">
            <a:r>
              <a:t>For the outer squared loss, derivative with respect to prediction is 2(prediction−y). Sigmoid derivative is σ(z)[1−σ(z)], obtained by differentiating (1+exp(−z)) to the power −1: exp(−z)/(1+exp(−z))². Weighted sum derivative with respect to w is x and with respect to b is 1. Multiply these three sensitivities. The expanded formulas use σ(wx+b) and the full prediction-minus-target expression, with no error shorthand. For n observations, average the per-observation losses and gradients, just as in linear regression. MSE keeps continuity with the preceding lesson; binary cross-entropy is commonly preferred for binary classification with sigmoid output, and gives different gradients.</a:t>
            </a:r>
          </a:p>
          <a:p xmlns:a="http://schemas.openxmlformats.org/drawingml/2006/main">
            <a:r>
              <a:t/>
            </a:r>
          </a:p>
          <a:p xmlns:a="http://schemas.openxmlformats.org/drawingml/2006/main">
            <a:r>
              <a:t>ASK</a:t>
            </a:r>
          </a:p>
          <a:p xmlns:a="http://schemas.openxmlformats.org/drawingml/2006/main">
            <a:r>
              <a:t>Why is there an extra sigmoid factor compared with linear regression?</a:t>
            </a:r>
          </a:p>
          <a:p xmlns:a="http://schemas.openxmlformats.org/drawingml/2006/main">
            <a:r>
              <a:t/>
            </a:r>
          </a:p>
          <a:p xmlns:a="http://schemas.openxmlformats.org/drawingml/2006/main">
            <a:r>
              <a:t>EXPECTED RESPONSE / DEBRIEF</a:t>
            </a:r>
          </a:p>
          <a:p xmlns:a="http://schemas.openxmlformats.org/drawingml/2006/main">
            <a:r>
              <a:t>A weight now affects loss through both the weighted sum and a nonlinear activation.</a:t>
            </a:r>
          </a:p>
          <a:p xmlns:a="http://schemas.openxmlformats.org/drawingml/2006/main">
            <a:r>
              <a:t/>
            </a:r>
          </a:p>
          <a:p xmlns:a="http://schemas.openxmlformats.org/drawingml/2006/main">
            <a:r>
              <a:t>TRANSITION</a:t>
            </a:r>
          </a:p>
          <a:p xmlns:a="http://schemas.openxmlformats.org/drawingml/2006/main">
            <a:r>
              <a:t>Evaluate the formulas at one concrete starting point.</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22–25 minutes (3 minutes)</a:t>
            </a:r>
          </a:p>
          <a:p xmlns:a="http://schemas.openxmlformats.org/drawingml/2006/main">
            <a:r>
              <a:t/>
            </a:r>
          </a:p>
          <a:p xmlns:a="http://schemas.openxmlformats.org/drawingml/2006/main">
            <a:r>
              <a:t>TEACH</a:t>
            </a:r>
          </a:p>
          <a:p xmlns:a="http://schemas.openxmlformats.org/drawingml/2006/main">
            <a:r>
              <a:t>The starting weighted sum is zero, so sigmoid output is 0.5. The loss derivative is 2(0.5−1)=−1. The sigmoid derivative is 0.5(1−0.5)=0.25. Multiplying by x=2 gives weight gradient −0.5; multiplying by 1 gives bias gradient −0.25. Update simultaneously to w=0.05,b=0.025. New weighted sum is 0.125; sigmoid is 0.531209373 and squared error is 0.219764652. These are computed values. At n=1, MSE is a single squared error.</a:t>
            </a:r>
          </a:p>
          <a:p xmlns:a="http://schemas.openxmlformats.org/drawingml/2006/main">
            <a:r>
              <a:t/>
            </a:r>
          </a:p>
          <a:p xmlns:a="http://schemas.openxmlformats.org/drawingml/2006/main">
            <a:r>
              <a:t>ASK</a:t>
            </a:r>
          </a:p>
          <a:p xmlns:a="http://schemas.openxmlformats.org/drawingml/2006/main">
            <a:r>
              <a:t>Why is the weight gradient twice the bias gradient here?</a:t>
            </a:r>
          </a:p>
          <a:p xmlns:a="http://schemas.openxmlformats.org/drawingml/2006/main">
            <a:r>
              <a:t/>
            </a:r>
          </a:p>
          <a:p xmlns:a="http://schemas.openxmlformats.org/drawingml/2006/main">
            <a:r>
              <a:t>EXPECTED RESPONSE / DEBRIEF</a:t>
            </a:r>
          </a:p>
          <a:p xmlns:a="http://schemas.openxmlformats.org/drawingml/2006/main">
            <a:r>
              <a:t>The last chain-rule factor is x=2 for the weight and 1 for the bias.</a:t>
            </a:r>
          </a:p>
          <a:p xmlns:a="http://schemas.openxmlformats.org/drawingml/2006/main">
            <a:r>
              <a:t/>
            </a:r>
          </a:p>
          <a:p xmlns:a="http://schemas.openxmlformats.org/drawingml/2006/main">
            <a:r>
              <a:t>TRANSITION</a:t>
            </a:r>
          </a:p>
          <a:p xmlns:a="http://schemas.openxmlformats.org/drawingml/2006/main">
            <a:r>
              <a:t>The activation derivative changes when we choose a different activation function.</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25–28 minutes (3 minutes)</a:t>
            </a:r>
          </a:p>
          <a:p xmlns:a="http://schemas.openxmlformats.org/drawingml/2006/main">
            <a:r>
              <a:t/>
            </a:r>
          </a:p>
          <a:p xmlns:a="http://schemas.openxmlformats.org/drawingml/2006/main">
            <a:r>
              <a:t>TEACH</a:t>
            </a:r>
          </a:p>
          <a:p xmlns:a="http://schemas.openxmlformats.org/drawingml/2006/main">
            <a:r>
              <a:t>Primes denote derivatives with respect to z, the input to the activation. Sigmoid derivative follows from differentiating 1/(1+exp(−z)) and rewriting the result as sigmoid times one minus sigmoid. Tanh derivative is one minus tanh squared. ReLU is zero below zero and identity above zero, so its derivative is zero or one. Leaky ReLU uses a fixed small positive negative-side slope a; the plot uses a=0.1. At zero the classical derivatives of ReLU and Leaky ReLU do not exist; libraries choose a backward convention. Sigmoid and tanh derivatives approach zero for large absolute inputs, contributing to vanishing gradients in deep compositions. This is a reference slide, not a claim that one activation is always best.</a:t>
            </a:r>
          </a:p>
          <a:p xmlns:a="http://schemas.openxmlformats.org/drawingml/2006/main">
            <a:r>
              <a:t/>
            </a:r>
          </a:p>
          <a:p xmlns:a="http://schemas.openxmlformats.org/drawingml/2006/main">
            <a:r>
              <a:t>ASK</a:t>
            </a:r>
          </a:p>
          <a:p xmlns:a="http://schemas.openxmlformats.org/drawingml/2006/main">
            <a:r>
              <a:t>Where does sigmoid have its largest derivative?</a:t>
            </a:r>
          </a:p>
          <a:p xmlns:a="http://schemas.openxmlformats.org/drawingml/2006/main">
            <a:r>
              <a:t/>
            </a:r>
          </a:p>
          <a:p xmlns:a="http://schemas.openxmlformats.org/drawingml/2006/main">
            <a:r>
              <a:t>EXPECTED RESPONSE / DEBRIEF</a:t>
            </a:r>
          </a:p>
          <a:p xmlns:a="http://schemas.openxmlformats.org/drawingml/2006/main">
            <a:r>
              <a:t>At z=0, where the derivative is 0.25.</a:t>
            </a:r>
          </a:p>
          <a:p xmlns:a="http://schemas.openxmlformats.org/drawingml/2006/main">
            <a:r>
              <a:t/>
            </a:r>
          </a:p>
          <a:p xmlns:a="http://schemas.openxmlformats.org/drawingml/2006/main">
            <a:r>
              <a:t>TRANSITION</a:t>
            </a:r>
          </a:p>
          <a:p xmlns:a="http://schemas.openxmlformats.org/drawingml/2006/main">
            <a:r>
              <a:t>Connect these derivatives to deeper networks and training choices.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28–31 minutes (3 minutes)</a:t>
            </a:r>
          </a:p>
          <a:p xmlns:a="http://schemas.openxmlformats.org/drawingml/2006/main">
            <a:r>
              <a:t/>
            </a:r>
          </a:p>
          <a:p xmlns:a="http://schemas.openxmlformats.org/drawingml/2006/main">
            <a:r>
              <a:t>TEACH</a:t>
            </a:r>
          </a:p>
          <a:p xmlns:a="http://schemas.openxmlformats.org/drawingml/2006/main">
            <a:r>
              <a:t>This diagram shows a standard Elman RNN with one scalar hidden unit, so the hidden state is one number. At step t, current input xₜ and previous hidden state hₜ₋₁ enter a weighted sum with bias, followed by tanh. That activation value hₜ is both the cell output and the stored state passed to the next step. Copying it does not apply another learned weight. The next step multiplies that saved value by the learned recurrent weight w_h while calculating its new hidden state. A separate head can transform hₜ through w_y,b_y and an activation g to produce a task prediction ŷₜ; g may be sigmoid, softmax or identity depending on the task and output dimension. Some diagrams call hₜ the RNN output, while others call the prediction ŷₜ the output; name the level explicitly. This example has one input and one hidden unit. With four hidden units, hₜ contains four numbers and a dense recurrent matrix mixes all four previous values into each new hidden unit. An LSTM also has a distinct cell state, so the simple-RNN equivalence is not a statement that all recurrent state variables are identical. Read w_x,w_h,w_y as input, recurrent and head weights.</a:t>
            </a:r>
          </a:p>
          <a:p xmlns:a="http://schemas.openxmlformats.org/drawingml/2006/main">
            <a:r>
              <a:t/>
            </a:r>
          </a:p>
          <a:p xmlns:a="http://schemas.openxmlformats.org/drawingml/2006/main">
            <a:r>
              <a:t>ASK</a:t>
            </a:r>
          </a:p>
          <a:p xmlns:a="http://schemas.openxmlformats.org/drawingml/2006/main">
            <a:r>
              <a:t>Is hidden state an extra weighted version of this neuron’s output?</a:t>
            </a:r>
          </a:p>
          <a:p xmlns:a="http://schemas.openxmlformats.org/drawingml/2006/main">
            <a:r>
              <a:t/>
            </a:r>
          </a:p>
          <a:p xmlns:a="http://schemas.openxmlformats.org/drawingml/2006/main">
            <a:r>
              <a:t>EXPECTED RESPONSE / DEBRIEF</a:t>
            </a:r>
          </a:p>
          <a:p xmlns:a="http://schemas.openxmlformats.org/drawingml/2006/main">
            <a:r>
              <a:t>No. In this standard RNN, the neuron’s activation output is the hidden state. Recurrent weighting happens when computing the next state, while the optional head computes a separate prediction.</a:t>
            </a:r>
          </a:p>
          <a:p xmlns:a="http://schemas.openxmlformats.org/drawingml/2006/main">
            <a:r>
              <a:t/>
            </a:r>
          </a:p>
          <a:p xmlns:a="http://schemas.openxmlformats.org/drawingml/2006/main">
            <a:r>
              <a:t>TRANSITION</a:t>
            </a:r>
          </a:p>
          <a:p xmlns:a="http://schemas.openxmlformats.org/drawingml/2006/main">
            <a:r>
              <a:t>Long sequences repeat this computation many times, linking RNNs to deep-network gradient challenges.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31–33 minutes (2 minutes)</a:t>
            </a:r>
          </a:p>
          <a:p xmlns:a="http://schemas.openxmlformats.org/drawingml/2006/main">
            <a:r>
              <a:t/>
            </a:r>
          </a:p>
          <a:p xmlns:a="http://schemas.openxmlformats.org/drawingml/2006/main">
            <a:r>
              <a:t>TEACH</a:t>
            </a:r>
          </a:p>
          <a:p xmlns:a="http://schemas.openxmlformats.org/drawingml/2006/main">
            <a:r>
              <a:t>Keep this a preview. Initialization methods such as Xavier and He aim for useful signal scales. Momentum smooths update directions; Adam adapts parameter-wise scaling using moving gradient statistics. Deep networks and unrolled RNNs can suffer from products of derivatives that vanish or explode. Residual paths and suitable initialization help gradient flow, normalization can stabilize optimization, and clipping limits large gradients. These techniques do not guarantee successful optimization. Nonlinear networks usually lack a simple closed-form parameter solution and use iterative optimization. Linear least squares can also be solved directly; we use gradient descent here to introduce the method shared with deep learning.</a:t>
            </a:r>
          </a:p>
          <a:p xmlns:a="http://schemas.openxmlformats.org/drawingml/2006/main">
            <a:r>
              <a:t/>
            </a:r>
          </a:p>
          <a:p xmlns:a="http://schemas.openxmlformats.org/drawingml/2006/main">
            <a:r>
              <a:t>ASK</a:t>
            </a:r>
          </a:p>
          <a:p xmlns:a="http://schemas.openxmlformats.org/drawingml/2006/main">
            <a:r>
              <a:t>Which core loop remains the same in a deep network?</a:t>
            </a:r>
          </a:p>
          <a:p xmlns:a="http://schemas.openxmlformats.org/drawingml/2006/main">
            <a:r>
              <a:t/>
            </a:r>
          </a:p>
          <a:p xmlns:a="http://schemas.openxmlformats.org/drawingml/2006/main">
            <a:r>
              <a:t>EXPECTED RESPONSE / DEBRIEF</a:t>
            </a:r>
          </a:p>
          <a:p xmlns:a="http://schemas.openxmlformats.org/drawingml/2006/main">
            <a:r>
              <a:t>Predict, calculate loss, calculate gradients, update parameters, repeat.</a:t>
            </a:r>
          </a:p>
          <a:p xmlns:a="http://schemas.openxmlformats.org/drawingml/2006/main">
            <a:r>
              <a:t/>
            </a:r>
          </a:p>
          <a:p xmlns:a="http://schemas.openxmlformats.org/drawingml/2006/main">
            <a:r>
              <a:t>TRANSITION</a:t>
            </a:r>
          </a:p>
          <a:p xmlns:a="http://schemas.openxmlformats.org/drawingml/2006/main">
            <a:r>
              <a:t>Continue with the architecture lesson.</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563684ad6a4b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f3fda069c4d4a40" /><Relationship Type="http://schemas.openxmlformats.org/officeDocument/2006/relationships/slideLayout" Target="/ppt/slideLayouts/slideLayout1.xml" Id="Rda119cf5117045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119cf5117045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990ab49f4e9472d" /><Relationship Type="http://schemas.openxmlformats.org/officeDocument/2006/relationships/image" Target="/ppt/media/image.png" Id="R461e3cb517f94a99" /><Relationship Type="http://schemas.openxmlformats.org/officeDocument/2006/relationships/image" Target="/ppt/media/image2.png" Id="Re9080732dc104b01" /><Relationship Type="http://schemas.openxmlformats.org/officeDocument/2006/relationships/notesSlide" Target="/ppt/notesSlides/notesSlide1.xml" Id="R3bea6e91c5cb4d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e0fb34e3b2a43df" /><Relationship Type="http://schemas.openxmlformats.org/officeDocument/2006/relationships/image" Target="/ppt/media/image3.png" Id="R26c926da24124d03" /><Relationship Type="http://schemas.openxmlformats.org/officeDocument/2006/relationships/image" Target="/ppt/media/image4.png" Id="Rd8767889d8924b8b" /><Relationship Type="http://schemas.openxmlformats.org/officeDocument/2006/relationships/notesSlide" Target="/ppt/notesSlides/notesSlide2.xml" Id="R92d536442ab448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58409d1edfa45bf" /><Relationship Type="http://schemas.openxmlformats.org/officeDocument/2006/relationships/image" Target="/ppt/media/image5.png" Id="Rc4e8ceacacac4761" /><Relationship Type="http://schemas.openxmlformats.org/officeDocument/2006/relationships/image" Target="/ppt/media/image6.png" Id="Redb097e5de9e4bc3" /><Relationship Type="http://schemas.openxmlformats.org/officeDocument/2006/relationships/image" Target="/ppt/media/image7.png" Id="R678dfd0526f94071" /><Relationship Type="http://schemas.openxmlformats.org/officeDocument/2006/relationships/image" Target="/ppt/media/image8.png" Id="R0480051895644157" /><Relationship Type="http://schemas.openxmlformats.org/officeDocument/2006/relationships/notesSlide" Target="/ppt/notesSlides/notesSlide3.xml" Id="R328dc59c730844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4c66fe3d2e4a4c" /><Relationship Type="http://schemas.openxmlformats.org/officeDocument/2006/relationships/image" Target="/ppt/media/image9.png" Id="Ra7fe9e26525441da" /><Relationship Type="http://schemas.openxmlformats.org/officeDocument/2006/relationships/image" Target="/ppt/media/image10.png" Id="Rfec2fb9a3ce14897" /><Relationship Type="http://schemas.openxmlformats.org/officeDocument/2006/relationships/image" Target="/ppt/media/image11.png" Id="R1d5cab91d58f4424" /><Relationship Type="http://schemas.openxmlformats.org/officeDocument/2006/relationships/image" Target="/ppt/media/image12.png" Id="R1c30bcd681064130" /><Relationship Type="http://schemas.openxmlformats.org/officeDocument/2006/relationships/image" Target="/ppt/media/image13.png" Id="Rdcd88481f68a4428" /><Relationship Type="http://schemas.openxmlformats.org/officeDocument/2006/relationships/notesSlide" Target="/ppt/notesSlides/notesSlide4.xml" Id="Rc0ac0dbd63b044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5b830d485e24dc0" /><Relationship Type="http://schemas.openxmlformats.org/officeDocument/2006/relationships/image" Target="/ppt/media/image14.png" Id="R7a8982aaaf36467a" /><Relationship Type="http://schemas.openxmlformats.org/officeDocument/2006/relationships/image" Target="/ppt/media/image15.png" Id="R37dae178dd7f4bcb" /><Relationship Type="http://schemas.openxmlformats.org/officeDocument/2006/relationships/image" Target="/ppt/media/image16.png" Id="Rc07cf1a31d064ee3" /><Relationship Type="http://schemas.openxmlformats.org/officeDocument/2006/relationships/image" Target="/ppt/media/image17.png" Id="R8806e11d84054350" /><Relationship Type="http://schemas.openxmlformats.org/officeDocument/2006/relationships/image" Target="/ppt/media/image18.png" Id="Rf9aea1b7c08443c0" /><Relationship Type="http://schemas.openxmlformats.org/officeDocument/2006/relationships/notesSlide" Target="/ppt/notesSlides/notesSlide5.xml" Id="R91600cf9b52147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9553c5bf6b44b3d" /><Relationship Type="http://schemas.openxmlformats.org/officeDocument/2006/relationships/image" Target="/ppt/media/image19.png" Id="Rb46b80c866e549e0" /><Relationship Type="http://schemas.openxmlformats.org/officeDocument/2006/relationships/notesSlide" Target="/ppt/notesSlides/notesSlide6.xml" Id="Rad0559d7e1f74bc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7332dc65b3149ec" /><Relationship Type="http://schemas.openxmlformats.org/officeDocument/2006/relationships/image" Target="/ppt/media/image20.png" Id="R634ce577fc204fad" /><Relationship Type="http://schemas.openxmlformats.org/officeDocument/2006/relationships/image" Target="/ppt/media/image21.png" Id="R7e97cdbb7b7742bb" /><Relationship Type="http://schemas.openxmlformats.org/officeDocument/2006/relationships/notesSlide" Target="/ppt/notesSlides/notesSlide7.xml" Id="Rd600b292dbd248b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3addf8b765f4411" /><Relationship Type="http://schemas.openxmlformats.org/officeDocument/2006/relationships/image" Target="/ppt/media/image22.png" Id="R66c7631c0c8a4987" /><Relationship Type="http://schemas.openxmlformats.org/officeDocument/2006/relationships/image" Target="/ppt/media/image23.png" Id="R54222fd613c44d29" /><Relationship Type="http://schemas.openxmlformats.org/officeDocument/2006/relationships/image" Target="/ppt/media/image24.png" Id="Rdf41bac51c07491c" /><Relationship Type="http://schemas.openxmlformats.org/officeDocument/2006/relationships/image" Target="/ppt/media/image25.png" Id="R39a8ad15dcc24a11" /><Relationship Type="http://schemas.openxmlformats.org/officeDocument/2006/relationships/image" Target="/ppt/media/image26.png" Id="R71e0e8f8bf894ee1" /><Relationship Type="http://schemas.openxmlformats.org/officeDocument/2006/relationships/notesSlide" Target="/ppt/notesSlides/notesSlide8.xml" Id="R929cd9e4a29e4b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11ad031ec97469e" /><Relationship Type="http://schemas.openxmlformats.org/officeDocument/2006/relationships/image" Target="/ppt/media/image27.png" Id="Rd679ff206adc489f" /><Relationship Type="http://schemas.openxmlformats.org/officeDocument/2006/relationships/image" Target="/ppt/media/image28.png" Id="Ra3253cd352734a23" /><Relationship Type="http://schemas.openxmlformats.org/officeDocument/2006/relationships/image" Target="/ppt/media/image29.png" Id="R78e0c1891eb84779" /><Relationship Type="http://schemas.openxmlformats.org/officeDocument/2006/relationships/image" Target="/ppt/media/image30.png" Id="R84041222673240f3" /><Relationship Type="http://schemas.openxmlformats.org/officeDocument/2006/relationships/image" Target="/ppt/media/image31.png" Id="Ra092999682a547e3" /><Relationship Type="http://schemas.openxmlformats.org/officeDocument/2006/relationships/notesSlide" Target="/ppt/notesSlides/notesSlide9.xml" Id="R76b94a1533724b9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54034d50aee49b1" /><Relationship Type="http://schemas.openxmlformats.org/officeDocument/2006/relationships/image" Target="/ppt/media/image32.png" Id="R4b8839a757874d87" /><Relationship Type="http://schemas.openxmlformats.org/officeDocument/2006/relationships/image" Target="/ppt/media/image33.png" Id="R0d97ade33f1c4bb1" /><Relationship Type="http://schemas.openxmlformats.org/officeDocument/2006/relationships/image" Target="/ppt/media/image34.png" Id="R7b9dc9ef29504f35" /><Relationship Type="http://schemas.openxmlformats.org/officeDocument/2006/relationships/image" Target="/ppt/media/image35.png" Id="R2c08c0a128db4701" /><Relationship Type="http://schemas.openxmlformats.org/officeDocument/2006/relationships/image" Target="/ppt/media/image36.png" Id="R86aef4af4a9a4093" /><Relationship Type="http://schemas.openxmlformats.org/officeDocument/2006/relationships/image" Target="/ppt/media/image37.png" Id="R6013ef391be5403e" /><Relationship Type="http://schemas.openxmlformats.org/officeDocument/2006/relationships/image" Target="/ppt/media/image38.png" Id="Ra72ff4aa98064f00" /><Relationship Type="http://schemas.openxmlformats.org/officeDocument/2006/relationships/image" Target="/ppt/media/image39.png" Id="R7ec597a65b0244e1" /><Relationship Type="http://schemas.openxmlformats.org/officeDocument/2006/relationships/notesSlide" Target="/ppt/notesSlides/notesSlide10.xml" Id="R33e7a274930443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b2b2b5059674460" /><Relationship Type="http://schemas.openxmlformats.org/officeDocument/2006/relationships/image" Target="/ppt/media/image40.png" Id="R90bb976fea07401d" /><Relationship Type="http://schemas.openxmlformats.org/officeDocument/2006/relationships/notesSlide" Target="/ppt/notesSlides/notesSlide11.xml" Id="Re733870bc07a4fb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a05a51cd4dd4eab" /><Relationship Type="http://schemas.openxmlformats.org/officeDocument/2006/relationships/notesSlide" Target="/ppt/notesSlides/notesSlide12.xml" Id="Rcb59cda0204943aa"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BE0C6E5-6260-48EA-A4DA-D7CAEEA768C0}"/>
              </a:ext>
            </a:extLst>
          </p:cNvPr>
          <p:cNvSpPr>
            <a:spLocks xmlns:a="http://schemas.openxmlformats.org/drawingml/2006/main" noGrp="1"/>
          </p:cNvSpPr>
          <p:nvPr/>
        </p:nvSpPr>
        <p:spPr>
          <a:xfrm xmlns:a="http://schemas.openxmlformats.org/drawingml/2006/main">
            <a:off x="400050" y="257175"/>
            <a:ext cx="113919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72B4D"/>
                </a:solidFill>
                <a:latin typeface="DejaVu Sans"/>
                <a:ea typeface="DejaVu Sans"/>
                <a:cs typeface="DejaVu Sans"/>
              </a:defRPr>
            </a:pPr>
            <a:r>
              <a:rPr sz="3000" b="1">
                <a:solidFill>
                  <a:srgbClr val="172B4D"/>
                </a:solidFill>
                <a:latin typeface="DejaVu Sans"/>
                <a:ea typeface="DejaVu Sans"/>
                <a:cs typeface="DejaVu Sans"/>
              </a:rPr>
              <a:t>Infinitely many lines. Which one fits best?</a:t>
            </a:r>
          </a:p>
        </p:txBody>
      </p:sp>
      <p:sp>
        <p:nvSpPr>
          <p:cNvPr id="2" name="">
            <a:extLst xmlns:a="http://schemas.openxmlformats.org/drawingml/2006/main">
              <a:ext uri="{FF2B5EF4-FFF2-40B4-BE49-F238E27FC236}">
                <a16:creationId xmlns:a16="http://schemas.microsoft.com/office/drawing/2014/main" id="{295378C6-4BDF-436D-AFC7-CC33C16376A0}"/>
              </a:ext>
            </a:extLst>
          </p:cNvPr>
          <p:cNvSpPr>
            <a:spLocks xmlns:a="http://schemas.openxmlformats.org/drawingml/2006/main" noGrp="1"/>
          </p:cNvSpPr>
          <p:nvPr/>
        </p:nvSpPr>
        <p:spPr>
          <a:xfrm xmlns:a="http://schemas.openxmlformats.org/drawingml/2006/main">
            <a:off x="400050" y="94297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52627A"/>
                </a:solidFill>
                <a:latin typeface="DejaVu Sans"/>
                <a:ea typeface="DejaVu Sans"/>
                <a:cs typeface="DejaVu Sans"/>
              </a:defRPr>
            </a:pPr>
            <a:r>
              <a:rPr sz="1725" b="0">
                <a:solidFill>
                  <a:srgbClr val="52627A"/>
                </a:solidFill>
                <a:latin typeface="DejaVu Sans"/>
                <a:ea typeface="DejaVu Sans"/>
                <a:cs typeface="DejaVu Sans"/>
              </a:rPr>
              <a:t>Each choice of B₀ and B₁ gives a different candidate line.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61e3cb517f94a99"/>
          <a:stretch xmlns:a="http://schemas.openxmlformats.org/drawingml/2006/main"/>
        </p:blipFill>
        <p:spPr>
          <a:xfrm xmlns:a="http://schemas.openxmlformats.org/drawingml/2006/main">
            <a:off x="497100" y="1590675"/>
            <a:ext cx="6911551" cy="4248150"/>
          </a:xfrm>
          <a:prstGeom xmlns:a="http://schemas.openxmlformats.org/drawingml/2006/main" prst="rect">
            <a:avLst/>
          </a:prstGeom>
        </p:spPr>
      </p:pic>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9080732dc104b01"/>
          <a:stretch xmlns:a="http://schemas.openxmlformats.org/drawingml/2006/main"/>
        </p:blipFill>
        <p:spPr>
          <a:xfrm xmlns:a="http://schemas.openxmlformats.org/drawingml/2006/main">
            <a:off x="7858125" y="1633538"/>
            <a:ext cx="3762375" cy="7524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7A49136-2104-4155-BEE2-DBFD2A5DC5C5}"/>
              </a:ext>
            </a:extLst>
          </p:cNvPr>
          <p:cNvSpPr>
            <a:spLocks xmlns:a="http://schemas.openxmlformats.org/drawingml/2006/main" noGrp="1"/>
          </p:cNvSpPr>
          <p:nvPr/>
        </p:nvSpPr>
        <p:spPr>
          <a:xfrm xmlns:a="http://schemas.openxmlformats.org/drawingml/2006/main">
            <a:off x="7953375" y="2733675"/>
            <a:ext cx="3524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72B4D"/>
                </a:solidFill>
                <a:latin typeface="DejaVu Sans"/>
                <a:ea typeface="DejaVu Sans"/>
                <a:cs typeface="DejaVu Sans"/>
              </a:defRPr>
            </a:pPr>
            <a:r>
              <a:rPr sz="2025" b="0">
                <a:solidFill>
                  <a:srgbClr val="172B4D"/>
                </a:solidFill>
                <a:latin typeface="DejaVu Sans"/>
                <a:ea typeface="DejaVu Sans"/>
                <a:cs typeface="DejaVu Sans"/>
              </a:rPr>
              <a:t>B₀ sets the intercept.</a:t>
            </a:r>
          </a:p>
          <a:p xmlns:a="http://schemas.openxmlformats.org/drawingml/2006/main">
            <a:pPr algn="l">
              <a:defRPr sz="2025" b="0">
                <a:solidFill>
                  <a:srgbClr val="172B4D"/>
                </a:solidFill>
                <a:latin typeface="DejaVu Sans"/>
                <a:ea typeface="DejaVu Sans"/>
                <a:cs typeface="DejaVu Sans"/>
              </a:defRPr>
            </a:pPr>
            <a:r>
              <a:rPr sz="2025" b="0">
                <a:solidFill>
                  <a:srgbClr val="172B4D"/>
                </a:solidFill>
                <a:latin typeface="DejaVu Sans"/>
                <a:ea typeface="DejaVu Sans"/>
                <a:cs typeface="DejaVu Sans"/>
              </a:rPr>
              <a:t>B₁ sets the slope.</a:t>
            </a:r>
          </a:p>
        </p:txBody>
      </p:sp>
      <p:sp>
        <p:nvSpPr>
          <p:cNvPr id="6" name="">
            <a:extLst xmlns:a="http://schemas.openxmlformats.org/drawingml/2006/main">
              <a:ext uri="{FF2B5EF4-FFF2-40B4-BE49-F238E27FC236}">
                <a16:creationId xmlns:a16="http://schemas.microsoft.com/office/drawing/2014/main" id="{7A2065AA-DBB7-439E-9D5F-B7CBE0692746}"/>
              </a:ext>
            </a:extLst>
          </p:cNvPr>
          <p:cNvSpPr>
            <a:spLocks xmlns:a="http://schemas.openxmlformats.org/drawingml/2006/main" noGrp="1"/>
          </p:cNvSpPr>
          <p:nvPr/>
        </p:nvSpPr>
        <p:spPr>
          <a:xfrm xmlns:a="http://schemas.openxmlformats.org/drawingml/2006/main">
            <a:off x="7953375" y="3876675"/>
            <a:ext cx="3524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8845B"/>
                </a:solidFill>
                <a:latin typeface="DejaVu Sans"/>
                <a:ea typeface="DejaVu Sans"/>
                <a:cs typeface="DejaVu Sans"/>
              </a:defRPr>
            </a:pPr>
            <a:r>
              <a:rPr sz="2175" b="1">
                <a:solidFill>
                  <a:srgbClr val="28845B"/>
                </a:solidFill>
                <a:latin typeface="DejaVu Sans"/>
                <a:ea typeface="DejaVu Sans"/>
                <a:cs typeface="DejaVu Sans"/>
              </a:rPr>
              <a:t>Our goal: find the pair that produces the best-fitting line.</a:t>
            </a:r>
          </a:p>
        </p:txBody>
      </p:sp>
      <p:sp>
        <p:nvSpPr>
          <p:cNvPr id="7" name="">
            <a:extLst xmlns:a="http://schemas.openxmlformats.org/drawingml/2006/main">
              <a:ext uri="{FF2B5EF4-FFF2-40B4-BE49-F238E27FC236}">
                <a16:creationId xmlns:a16="http://schemas.microsoft.com/office/drawing/2014/main" id="{D6077BDF-E862-49D4-BACE-F3CD898776AF}"/>
              </a:ext>
            </a:extLst>
          </p:cNvPr>
          <p:cNvSpPr>
            <a:spLocks xmlns:a="http://schemas.openxmlformats.org/drawingml/2006/main" noGrp="1"/>
          </p:cNvSpPr>
          <p:nvPr/>
        </p:nvSpPr>
        <p:spPr>
          <a:xfrm xmlns:a="http://schemas.openxmlformats.org/drawingml/2006/main">
            <a:off x="400050" y="6229350"/>
            <a:ext cx="11391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27A"/>
                </a:solidFill>
                <a:latin typeface="DejaVu Sans"/>
                <a:ea typeface="DejaVu Sans"/>
                <a:cs typeface="DejaVu Sans"/>
              </a:defRPr>
            </a:pPr>
            <a:r>
              <a:rPr sz="1500" b="0">
                <a:solidFill>
                  <a:srgbClr val="52627A"/>
                </a:solidFill>
                <a:latin typeface="DejaVu Sans"/>
                <a:ea typeface="DejaVu Sans"/>
                <a:cs typeface="DejaVu Sans"/>
              </a:rPr>
              <a:t>Data: (0, 1), (1, 3), (2, 5). Only a sample of the infinitely many candidate lines is shown.</a:t>
            </a:r>
          </a:p>
        </p:txBody>
      </p:sp>
      <p:sp>
        <p:nvSpPr>
          <p:cNvPr id="8" name="">
            <a:extLst xmlns:a="http://schemas.openxmlformats.org/drawingml/2006/main">
              <a:ext uri="{FF2B5EF4-FFF2-40B4-BE49-F238E27FC236}">
                <a16:creationId xmlns:a16="http://schemas.microsoft.com/office/drawing/2014/main" id="{FEF7816A-9CCF-47E4-BD93-071A04E17C82}"/>
              </a:ext>
            </a:extLst>
          </p:cNvPr>
          <p:cNvSpPr>
            <a:spLocks xmlns:a="http://schemas.openxmlformats.org/drawingml/2006/main" noGrp="1"/>
          </p:cNvSpPr>
          <p:nvPr/>
        </p:nvSpPr>
        <p:spPr>
          <a:xfrm xmlns:a="http://schemas.openxmlformats.org/drawingml/2006/main">
            <a:off x="11144250" y="65627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a:solidFill>
                  <a:srgbClr val="52627A"/>
                </a:solidFill>
                <a:latin typeface="DejaVu Sans"/>
                <a:ea typeface="DejaVu Sans"/>
                <a:cs typeface="DejaVu Sans"/>
              </a:defRPr>
            </a:pPr>
            <a:r>
              <a:rPr sz="975" b="0">
                <a:solidFill>
                  <a:srgbClr val="52627A"/>
                </a:solidFill>
                <a:latin typeface="DejaVu Sans"/>
                <a:ea typeface="DejaVu Sans"/>
                <a:cs typeface="DejaVu Sans"/>
              </a:rPr>
              <a:t>1</a:t>
            </a:r>
          </a:p>
        </p:txBody>
      </p:sp>
    </p:spTree>
    <p:extLst>
      <p:ext uri="{BB962C8B-B14F-4D97-AF65-F5344CB8AC3E}">
        <p14:creationId xmlns:p14="http://schemas.microsoft.com/office/powerpoint/2010/main" val="1008847925"/>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74EB1C9-8E47-43ED-A6EC-53966E3F82E5}"/>
              </a:ext>
            </a:extLst>
          </p:cNvPr>
          <p:cNvSpPr>
            <a:spLocks xmlns:a="http://schemas.openxmlformats.org/drawingml/2006/main" noGrp="1"/>
          </p:cNvSpPr>
          <p:nvPr/>
        </p:nvSpPr>
        <p:spPr>
          <a:xfrm xmlns:a="http://schemas.openxmlformats.org/drawingml/2006/main">
            <a:off x="400050" y="257175"/>
            <a:ext cx="113919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72B4D"/>
                </a:solidFill>
                <a:latin typeface="DejaVu Sans"/>
                <a:ea typeface="DejaVu Sans"/>
                <a:cs typeface="DejaVu Sans"/>
              </a:defRPr>
            </a:pPr>
            <a:r>
              <a:rPr sz="3000" b="1">
                <a:solidFill>
                  <a:srgbClr val="172B4D"/>
                </a:solidFill>
                <a:latin typeface="DejaVu Sans"/>
                <a:ea typeface="DejaVu Sans"/>
                <a:cs typeface="DejaVu Sans"/>
              </a:rPr>
              <a:t>Loss gives every candidate line a score</a:t>
            </a:r>
          </a:p>
        </p:txBody>
      </p:sp>
      <p:sp>
        <p:nvSpPr>
          <p:cNvPr id="2" name="">
            <a:extLst xmlns:a="http://schemas.openxmlformats.org/drawingml/2006/main">
              <a:ext uri="{FF2B5EF4-FFF2-40B4-BE49-F238E27FC236}">
                <a16:creationId xmlns:a16="http://schemas.microsoft.com/office/drawing/2014/main" id="{195E8111-E269-4260-84AD-5DDAE5B3A24D}"/>
              </a:ext>
            </a:extLst>
          </p:cNvPr>
          <p:cNvSpPr>
            <a:spLocks xmlns:a="http://schemas.openxmlformats.org/drawingml/2006/main" noGrp="1"/>
          </p:cNvSpPr>
          <p:nvPr/>
        </p:nvSpPr>
        <p:spPr>
          <a:xfrm xmlns:a="http://schemas.openxmlformats.org/drawingml/2006/main">
            <a:off x="400050" y="94297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52627A"/>
                </a:solidFill>
                <a:latin typeface="DejaVu Sans"/>
                <a:ea typeface="DejaVu Sans"/>
                <a:cs typeface="DejaVu Sans"/>
              </a:defRPr>
            </a:pPr>
            <a:r>
              <a:rPr sz="1725" b="0">
                <a:solidFill>
                  <a:srgbClr val="52627A"/>
                </a:solidFill>
                <a:latin typeface="DejaVu Sans"/>
                <a:ea typeface="DejaVu Sans"/>
                <a:cs typeface="DejaVu Sans"/>
              </a:rPr>
              <a:t>Mean squared error (MSE) averages the squared vertical prediction errors.</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6c926da24124d03"/>
          <a:stretch xmlns:a="http://schemas.openxmlformats.org/drawingml/2006/main"/>
        </p:blipFill>
        <p:spPr>
          <a:xfrm xmlns:a="http://schemas.openxmlformats.org/drawingml/2006/main">
            <a:off x="457200" y="1651090"/>
            <a:ext cx="11277600" cy="3212920"/>
          </a:xfrm>
          <a:prstGeom xmlns:a="http://schemas.openxmlformats.org/drawingml/2006/main" prst="rect">
            <a:avLst/>
          </a:prstGeom>
        </p:spPr>
      </p:pic>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8767889d8924b8b"/>
          <a:stretch xmlns:a="http://schemas.openxmlformats.org/drawingml/2006/main"/>
        </p:blipFill>
        <p:spPr>
          <a:xfrm xmlns:a="http://schemas.openxmlformats.org/drawingml/2006/main">
            <a:off x="590550" y="5042783"/>
            <a:ext cx="10972800" cy="81103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885EC4B-1DA8-4AF9-9363-2C14098C31CD}"/>
              </a:ext>
            </a:extLst>
          </p:cNvPr>
          <p:cNvSpPr>
            <a:spLocks xmlns:a="http://schemas.openxmlformats.org/drawingml/2006/main" noGrp="1"/>
          </p:cNvSpPr>
          <p:nvPr/>
        </p:nvSpPr>
        <p:spPr>
          <a:xfrm xmlns:a="http://schemas.openxmlformats.org/drawingml/2006/main">
            <a:off x="400050" y="6229350"/>
            <a:ext cx="11391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27A"/>
                </a:solidFill>
                <a:latin typeface="DejaVu Sans"/>
                <a:ea typeface="DejaVu Sans"/>
                <a:cs typeface="DejaVu Sans"/>
              </a:defRPr>
            </a:pPr>
            <a:r>
              <a:rPr sz="1500" b="0">
                <a:solidFill>
                  <a:srgbClr val="52627A"/>
                </a:solidFill>
                <a:latin typeface="DejaVu Sans"/>
                <a:ea typeface="DejaVu Sans"/>
                <a:cs typeface="DejaVu Sans"/>
              </a:rPr>
              <a:t>Lower is better: Line B fits better than Line A. Dashed segments show prediction errors.</a:t>
            </a:r>
          </a:p>
        </p:txBody>
      </p:sp>
      <p:sp>
        <p:nvSpPr>
          <p:cNvPr id="6" name="">
            <a:extLst xmlns:a="http://schemas.openxmlformats.org/drawingml/2006/main">
              <a:ext uri="{FF2B5EF4-FFF2-40B4-BE49-F238E27FC236}">
                <a16:creationId xmlns:a16="http://schemas.microsoft.com/office/drawing/2014/main" id="{25D9075F-AD2B-46EF-953E-48B55E3DBA5C}"/>
              </a:ext>
            </a:extLst>
          </p:cNvPr>
          <p:cNvSpPr>
            <a:spLocks xmlns:a="http://schemas.openxmlformats.org/drawingml/2006/main" noGrp="1"/>
          </p:cNvSpPr>
          <p:nvPr/>
        </p:nvSpPr>
        <p:spPr>
          <a:xfrm xmlns:a="http://schemas.openxmlformats.org/drawingml/2006/main">
            <a:off x="11144250" y="65627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a:solidFill>
                  <a:srgbClr val="52627A"/>
                </a:solidFill>
                <a:latin typeface="DejaVu Sans"/>
                <a:ea typeface="DejaVu Sans"/>
                <a:cs typeface="DejaVu Sans"/>
              </a:defRPr>
            </a:pPr>
            <a:r>
              <a:rPr sz="975" b="0">
                <a:solidFill>
                  <a:srgbClr val="52627A"/>
                </a:solidFill>
                <a:latin typeface="DejaVu Sans"/>
                <a:ea typeface="DejaVu Sans"/>
                <a:cs typeface="DejaVu Sans"/>
              </a:rPr>
              <a:t>2</a:t>
            </a:r>
          </a:p>
        </p:txBody>
      </p:sp>
    </p:spTree>
    <p:extLst>
      <p:ext uri="{BB962C8B-B14F-4D97-AF65-F5344CB8AC3E}">
        <p14:creationId xmlns:p14="http://schemas.microsoft.com/office/powerpoint/2010/main" val="372564491"/>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70AC355-869E-4F7E-B946-63B59FE9D76D}"/>
              </a:ext>
            </a:extLst>
          </p:cNvPr>
          <p:cNvSpPr>
            <a:spLocks xmlns:a="http://schemas.openxmlformats.org/drawingml/2006/main" noGrp="1"/>
          </p:cNvSpPr>
          <p:nvPr/>
        </p:nvSpPr>
        <p:spPr>
          <a:xfrm xmlns:a="http://schemas.openxmlformats.org/drawingml/2006/main">
            <a:off x="400050" y="257175"/>
            <a:ext cx="113919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72B4D"/>
                </a:solidFill>
                <a:latin typeface="DejaVu Sans"/>
                <a:ea typeface="DejaVu Sans"/>
                <a:cs typeface="DejaVu Sans"/>
              </a:defRPr>
            </a:pPr>
            <a:r>
              <a:rPr sz="3000" b="1">
                <a:solidFill>
                  <a:srgbClr val="172B4D"/>
                </a:solidFill>
                <a:latin typeface="DejaVu Sans"/>
                <a:ea typeface="DejaVu Sans"/>
                <a:cs typeface="DejaVu Sans"/>
              </a:rPr>
              <a:t>Use the gradient to choose a downhill step</a:t>
            </a:r>
          </a:p>
        </p:txBody>
      </p:sp>
      <p:sp>
        <p:nvSpPr>
          <p:cNvPr id="2" name="">
            <a:extLst xmlns:a="http://schemas.openxmlformats.org/drawingml/2006/main">
              <a:ext uri="{FF2B5EF4-FFF2-40B4-BE49-F238E27FC236}">
                <a16:creationId xmlns:a16="http://schemas.microsoft.com/office/drawing/2014/main" id="{4AA79ECA-C9E4-4D28-9DEC-8AE3256A8D28}"/>
              </a:ext>
            </a:extLst>
          </p:cNvPr>
          <p:cNvSpPr>
            <a:spLocks xmlns:a="http://schemas.openxmlformats.org/drawingml/2006/main" noGrp="1"/>
          </p:cNvSpPr>
          <p:nvPr/>
        </p:nvSpPr>
        <p:spPr>
          <a:xfrm xmlns:a="http://schemas.openxmlformats.org/drawingml/2006/main">
            <a:off x="400050" y="94297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52627A"/>
                </a:solidFill>
                <a:latin typeface="DejaVu Sans"/>
                <a:ea typeface="DejaVu Sans"/>
                <a:cs typeface="DejaVu Sans"/>
              </a:defRPr>
            </a:pPr>
            <a:r>
              <a:rPr sz="1725" b="0">
                <a:solidFill>
                  <a:srgbClr val="52627A"/>
                </a:solidFill>
                <a:latin typeface="DejaVu Sans"/>
                <a:ea typeface="DejaVu Sans"/>
                <a:cs typeface="DejaVu Sans"/>
              </a:rPr>
              <a:t>Now the axes are the parameters B₀ and B₁. Each position represents one whole line.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4e8ceacacac4761"/>
          <a:stretch xmlns:a="http://schemas.openxmlformats.org/drawingml/2006/main"/>
        </p:blipFill>
        <p:spPr>
          <a:xfrm xmlns:a="http://schemas.openxmlformats.org/drawingml/2006/main">
            <a:off x="553604" y="1657350"/>
            <a:ext cx="5150718" cy="41052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B51803B-5033-4996-ADCB-DF6D16FBBBA8}"/>
              </a:ext>
            </a:extLst>
          </p:cNvPr>
          <p:cNvSpPr>
            <a:spLocks xmlns:a="http://schemas.openxmlformats.org/drawingml/2006/main" noGrp="1"/>
          </p:cNvSpPr>
          <p:nvPr/>
        </p:nvSpPr>
        <p:spPr>
          <a:xfrm xmlns:a="http://schemas.openxmlformats.org/drawingml/2006/main">
            <a:off x="6391275" y="15716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72B4D"/>
                </a:solidFill>
                <a:latin typeface="DejaVu Sans"/>
                <a:ea typeface="DejaVu Sans"/>
                <a:cs typeface="DejaVu Sans"/>
              </a:defRPr>
            </a:pPr>
            <a:r>
              <a:rPr sz="1875" b="1">
                <a:solidFill>
                  <a:srgbClr val="172B4D"/>
                </a:solidFill>
                <a:latin typeface="DejaVu Sans"/>
                <a:ea typeface="DejaVu Sans"/>
                <a:cs typeface="DejaVu Sans"/>
              </a:rPr>
              <a:t>One sensitivity for each parameter</a:t>
            </a:r>
          </a:p>
        </p:txBody>
      </p:sp>
      <p:sp>
        <p:nvSpPr>
          <p:cNvPr id="5" name="">
            <a:extLst xmlns:a="http://schemas.openxmlformats.org/drawingml/2006/main">
              <a:ext uri="{FF2B5EF4-FFF2-40B4-BE49-F238E27FC236}">
                <a16:creationId xmlns:a16="http://schemas.microsoft.com/office/drawing/2014/main" id="{1CBA9ECE-D87C-403E-849E-7AEE1A420654}"/>
              </a:ext>
            </a:extLst>
          </p:cNvPr>
          <p:cNvSpPr>
            <a:spLocks xmlns:a="http://schemas.openxmlformats.org/drawingml/2006/main" noGrp="1"/>
          </p:cNvSpPr>
          <p:nvPr/>
        </p:nvSpPr>
        <p:spPr>
          <a:xfrm xmlns:a="http://schemas.openxmlformats.org/drawingml/2006/main">
            <a:off x="6486525" y="2009775"/>
            <a:ext cx="5000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52627A"/>
                </a:solidFill>
                <a:latin typeface="DejaVu Sans"/>
                <a:ea typeface="DejaVu Sans"/>
                <a:cs typeface="DejaVu Sans"/>
              </a:defRPr>
            </a:pPr>
            <a:r>
              <a:rPr sz="1725" b="0">
                <a:solidFill>
                  <a:srgbClr val="52627A"/>
                </a:solidFill>
                <a:latin typeface="DejaVu Sans"/>
                <a:ea typeface="DejaVu Sans"/>
                <a:cs typeface="DejaVu Sans"/>
              </a:rPr>
              <a:t>Use every observed pair (xᵢ, yᵢ).</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db097e5de9e4bc3"/>
          <a:stretch xmlns:a="http://schemas.openxmlformats.org/drawingml/2006/main"/>
        </p:blipFill>
        <p:spPr>
          <a:xfrm xmlns:a="http://schemas.openxmlformats.org/drawingml/2006/main">
            <a:off x="6419850" y="2668253"/>
            <a:ext cx="5143500" cy="902368"/>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78dfd0526f94071"/>
          <a:stretch xmlns:a="http://schemas.openxmlformats.org/drawingml/2006/main"/>
        </p:blipFill>
        <p:spPr>
          <a:xfrm xmlns:a="http://schemas.openxmlformats.org/drawingml/2006/main">
            <a:off x="6419850" y="3687428"/>
            <a:ext cx="5143500" cy="902368"/>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480051895644157"/>
          <a:stretch xmlns:a="http://schemas.openxmlformats.org/drawingml/2006/main"/>
        </p:blipFill>
        <p:spPr>
          <a:xfrm xmlns:a="http://schemas.openxmlformats.org/drawingml/2006/main">
            <a:off x="6419850" y="4850481"/>
            <a:ext cx="5143500" cy="76701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73DEA4A-7E36-449D-9BBF-297F1FDD5948}"/>
              </a:ext>
            </a:extLst>
          </p:cNvPr>
          <p:cNvSpPr>
            <a:spLocks xmlns:a="http://schemas.openxmlformats.org/drawingml/2006/main" noGrp="1"/>
          </p:cNvSpPr>
          <p:nvPr/>
        </p:nvSpPr>
        <p:spPr>
          <a:xfrm xmlns:a="http://schemas.openxmlformats.org/drawingml/2006/main">
            <a:off x="400050" y="6229350"/>
            <a:ext cx="11391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27A"/>
                </a:solidFill>
                <a:latin typeface="DejaVu Sans"/>
                <a:ea typeface="DejaVu Sans"/>
                <a:cs typeface="DejaVu Sans"/>
              </a:defRPr>
            </a:pPr>
            <a:r>
              <a:rPr sz="1500" b="0">
                <a:solidFill>
                  <a:srgbClr val="52627A"/>
                </a:solidFill>
                <a:latin typeface="DejaVu Sans"/>
                <a:ea typeface="DejaVu Sans"/>
                <a:cs typeface="DejaVu Sans"/>
              </a:rPr>
              <a:t>Contours join equal loss. Subtract a fraction α of the gradient; α is the learning rate.</a:t>
            </a:r>
          </a:p>
        </p:txBody>
      </p:sp>
      <p:sp>
        <p:nvSpPr>
          <p:cNvPr id="10" name="">
            <a:extLst xmlns:a="http://schemas.openxmlformats.org/drawingml/2006/main">
              <a:ext uri="{FF2B5EF4-FFF2-40B4-BE49-F238E27FC236}">
                <a16:creationId xmlns:a16="http://schemas.microsoft.com/office/drawing/2014/main" id="{ADA99421-AF6C-4866-8F3F-BC93D5D4860E}"/>
              </a:ext>
            </a:extLst>
          </p:cNvPr>
          <p:cNvSpPr>
            <a:spLocks xmlns:a="http://schemas.openxmlformats.org/drawingml/2006/main" noGrp="1"/>
          </p:cNvSpPr>
          <p:nvPr/>
        </p:nvSpPr>
        <p:spPr>
          <a:xfrm xmlns:a="http://schemas.openxmlformats.org/drawingml/2006/main">
            <a:off x="11144250" y="65627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a:solidFill>
                  <a:srgbClr val="52627A"/>
                </a:solidFill>
                <a:latin typeface="DejaVu Sans"/>
                <a:ea typeface="DejaVu Sans"/>
                <a:cs typeface="DejaVu Sans"/>
              </a:defRPr>
            </a:pPr>
            <a:r>
              <a:rPr sz="975" b="0">
                <a:solidFill>
                  <a:srgbClr val="52627A"/>
                </a:solidFill>
                <a:latin typeface="DejaVu Sans"/>
                <a:ea typeface="DejaVu Sans"/>
                <a:cs typeface="DejaVu Sans"/>
              </a:rPr>
              <a:t>3</a:t>
            </a:r>
          </a:p>
        </p:txBody>
      </p:sp>
    </p:spTree>
    <p:extLst>
      <p:ext uri="{BB962C8B-B14F-4D97-AF65-F5344CB8AC3E}">
        <p14:creationId xmlns:p14="http://schemas.microsoft.com/office/powerpoint/2010/main" val="2013616291"/>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E0E5568-4922-46FE-B199-CF933F8BCAD5}"/>
              </a:ext>
            </a:extLst>
          </p:cNvPr>
          <p:cNvSpPr>
            <a:spLocks xmlns:a="http://schemas.openxmlformats.org/drawingml/2006/main" noGrp="1"/>
          </p:cNvSpPr>
          <p:nvPr/>
        </p:nvSpPr>
        <p:spPr>
          <a:xfrm xmlns:a="http://schemas.openxmlformats.org/drawingml/2006/main">
            <a:off x="400050" y="257175"/>
            <a:ext cx="113919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72B4D"/>
                </a:solidFill>
                <a:latin typeface="DejaVu Sans"/>
                <a:ea typeface="DejaVu Sans"/>
                <a:cs typeface="DejaVu Sans"/>
              </a:defRPr>
            </a:pPr>
            <a:r>
              <a:rPr sz="3000" b="1">
                <a:solidFill>
                  <a:srgbClr val="172B4D"/>
                </a:solidFill>
                <a:latin typeface="DejaVu Sans"/>
                <a:ea typeface="DejaVu Sans"/>
                <a:cs typeface="DejaVu Sans"/>
              </a:rPr>
              <a:t>How the two partial derivatives are obtained</a:t>
            </a:r>
          </a:p>
        </p:txBody>
      </p:sp>
      <p:sp>
        <p:nvSpPr>
          <p:cNvPr id="2" name="">
            <a:extLst xmlns:a="http://schemas.openxmlformats.org/drawingml/2006/main">
              <a:ext uri="{FF2B5EF4-FFF2-40B4-BE49-F238E27FC236}">
                <a16:creationId xmlns:a16="http://schemas.microsoft.com/office/drawing/2014/main" id="{CA1F7BBE-A943-4B41-8959-210556770C98}"/>
              </a:ext>
            </a:extLst>
          </p:cNvPr>
          <p:cNvSpPr>
            <a:spLocks xmlns:a="http://schemas.openxmlformats.org/drawingml/2006/main" noGrp="1"/>
          </p:cNvSpPr>
          <p:nvPr/>
        </p:nvSpPr>
        <p:spPr>
          <a:xfrm xmlns:a="http://schemas.openxmlformats.org/drawingml/2006/main">
            <a:off x="400050" y="94297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52627A"/>
                </a:solidFill>
                <a:latin typeface="DejaVu Sans"/>
                <a:ea typeface="DejaVu Sans"/>
                <a:cs typeface="DejaVu Sans"/>
              </a:defRPr>
            </a:pPr>
            <a:r>
              <a:rPr sz="1725" b="0">
                <a:solidFill>
                  <a:srgbClr val="52627A"/>
                </a:solidFill>
                <a:latin typeface="DejaVu Sans"/>
                <a:ea typeface="DejaVu Sans"/>
                <a:cs typeface="DejaVu Sans"/>
              </a:rPr>
              <a:t>Differentiate the square, then multiply by the derivative of the expression inside it.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7fe9e26525441da"/>
          <a:stretch xmlns:a="http://schemas.openxmlformats.org/drawingml/2006/main"/>
        </p:blipFill>
        <p:spPr>
          <a:xfrm xmlns:a="http://schemas.openxmlformats.org/drawingml/2006/main">
            <a:off x="552450" y="1438275"/>
            <a:ext cx="11049000" cy="80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EFA70CD-2597-4B4F-B06F-AC5204F766DC}"/>
              </a:ext>
            </a:extLst>
          </p:cNvPr>
          <p:cNvSpPr>
            <a:spLocks xmlns:a="http://schemas.openxmlformats.org/drawingml/2006/main" noGrp="1"/>
          </p:cNvSpPr>
          <p:nvPr/>
        </p:nvSpPr>
        <p:spPr>
          <a:xfrm xmlns:a="http://schemas.openxmlformats.org/drawingml/2006/main">
            <a:off x="581025" y="23431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72B4D"/>
                </a:solidFill>
                <a:latin typeface="DejaVu Sans"/>
                <a:ea typeface="DejaVu Sans"/>
                <a:cs typeface="DejaVu Sans"/>
              </a:defRPr>
            </a:pPr>
            <a:r>
              <a:rPr sz="1725" b="1">
                <a:solidFill>
                  <a:srgbClr val="172B4D"/>
                </a:solidFill>
                <a:latin typeface="DejaVu Sans"/>
                <a:ea typeface="DejaVu Sans"/>
                <a:cs typeface="DejaVu Sans"/>
              </a:rPr>
              <a:t>With respect to B₀: hold B₁, xᵢ, and yᵢ fixed.</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ec2fb9a3ce14897"/>
          <a:stretch xmlns:a="http://schemas.openxmlformats.org/drawingml/2006/main"/>
        </p:blipFill>
        <p:spPr>
          <a:xfrm xmlns:a="http://schemas.openxmlformats.org/drawingml/2006/main">
            <a:off x="552450" y="2705100"/>
            <a:ext cx="11049000" cy="90487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d5cab91d58f4424"/>
          <a:stretch xmlns:a="http://schemas.openxmlformats.org/drawingml/2006/main"/>
        </p:blipFill>
        <p:spPr>
          <a:xfrm xmlns:a="http://schemas.openxmlformats.org/drawingml/2006/main">
            <a:off x="1476375" y="3591438"/>
            <a:ext cx="10125075" cy="74192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0DDF048-0346-4A98-8628-FD627B504F1D}"/>
              </a:ext>
            </a:extLst>
          </p:cNvPr>
          <p:cNvSpPr>
            <a:spLocks xmlns:a="http://schemas.openxmlformats.org/drawingml/2006/main" noGrp="1"/>
          </p:cNvSpPr>
          <p:nvPr/>
        </p:nvSpPr>
        <p:spPr>
          <a:xfrm xmlns:a="http://schemas.openxmlformats.org/drawingml/2006/main">
            <a:off x="581025" y="43434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72B4D"/>
                </a:solidFill>
                <a:latin typeface="DejaVu Sans"/>
                <a:ea typeface="DejaVu Sans"/>
                <a:cs typeface="DejaVu Sans"/>
              </a:defRPr>
            </a:pPr>
            <a:r>
              <a:rPr sz="1725" b="1">
                <a:solidFill>
                  <a:srgbClr val="172B4D"/>
                </a:solidFill>
                <a:latin typeface="DejaVu Sans"/>
                <a:ea typeface="DejaVu Sans"/>
                <a:cs typeface="DejaVu Sans"/>
              </a:rPr>
              <a:t>With respect to B₁: hold B₀, xᵢ, and yᵢ fixed.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c30bcd681064130"/>
          <a:stretch xmlns:a="http://schemas.openxmlformats.org/drawingml/2006/main"/>
        </p:blipFill>
        <p:spPr>
          <a:xfrm xmlns:a="http://schemas.openxmlformats.org/drawingml/2006/main">
            <a:off x="552450" y="4695825"/>
            <a:ext cx="11049000" cy="90487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dcd88481f68a4428"/>
          <a:stretch xmlns:a="http://schemas.openxmlformats.org/drawingml/2006/main"/>
        </p:blipFill>
        <p:spPr>
          <a:xfrm xmlns:a="http://schemas.openxmlformats.org/drawingml/2006/main">
            <a:off x="1476375" y="5582163"/>
            <a:ext cx="10125075" cy="741924"/>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67A5CDC-C434-44CD-AB79-9EEB4F10E3FF}"/>
              </a:ext>
            </a:extLst>
          </p:cNvPr>
          <p:cNvSpPr>
            <a:spLocks xmlns:a="http://schemas.openxmlformats.org/drawingml/2006/main" noGrp="1"/>
          </p:cNvSpPr>
          <p:nvPr/>
        </p:nvSpPr>
        <p:spPr>
          <a:xfrm xmlns:a="http://schemas.openxmlformats.org/drawingml/2006/main">
            <a:off x="400050" y="6229350"/>
            <a:ext cx="11391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27A"/>
                </a:solidFill>
                <a:latin typeface="DejaVu Sans"/>
                <a:ea typeface="DejaVu Sans"/>
                <a:cs typeface="DejaVu Sans"/>
              </a:defRPr>
            </a:pPr>
            <a:r>
              <a:rPr sz="1500" b="0">
                <a:solidFill>
                  <a:srgbClr val="52627A"/>
                </a:solidFill>
                <a:latin typeface="DejaVu Sans"/>
                <a:ea typeface="DejaVu Sans"/>
                <a:cs typeface="DejaVu Sans"/>
              </a:rPr>
              <a:t>The square contributes the factor 2. The expression inside contributes 1 for B₀ and xᵢ for B₁.</a:t>
            </a:r>
          </a:p>
        </p:txBody>
      </p:sp>
      <p:sp>
        <p:nvSpPr>
          <p:cNvPr id="11" name="">
            <a:extLst xmlns:a="http://schemas.openxmlformats.org/drawingml/2006/main">
              <a:ext uri="{FF2B5EF4-FFF2-40B4-BE49-F238E27FC236}">
                <a16:creationId xmlns:a16="http://schemas.microsoft.com/office/drawing/2014/main" id="{4DC008D9-5EF8-4894-B11A-E08EB7C4AD07}"/>
              </a:ext>
            </a:extLst>
          </p:cNvPr>
          <p:cNvSpPr>
            <a:spLocks xmlns:a="http://schemas.openxmlformats.org/drawingml/2006/main" noGrp="1"/>
          </p:cNvSpPr>
          <p:nvPr/>
        </p:nvSpPr>
        <p:spPr>
          <a:xfrm xmlns:a="http://schemas.openxmlformats.org/drawingml/2006/main">
            <a:off x="11144250" y="65627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a:solidFill>
                  <a:srgbClr val="52627A"/>
                </a:solidFill>
                <a:latin typeface="DejaVu Sans"/>
                <a:ea typeface="DejaVu Sans"/>
                <a:cs typeface="DejaVu Sans"/>
              </a:defRPr>
            </a:pPr>
            <a:r>
              <a:rPr sz="975" b="0">
                <a:solidFill>
                  <a:srgbClr val="52627A"/>
                </a:solidFill>
                <a:latin typeface="DejaVu Sans"/>
                <a:ea typeface="DejaVu Sans"/>
                <a:cs typeface="DejaVu Sans"/>
              </a:rPr>
              <a:t>4</a:t>
            </a:r>
          </a:p>
        </p:txBody>
      </p:sp>
    </p:spTree>
    <p:extLst>
      <p:ext uri="{BB962C8B-B14F-4D97-AF65-F5344CB8AC3E}">
        <p14:creationId xmlns:p14="http://schemas.microsoft.com/office/powerpoint/2010/main" val="2035845933"/>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AE0C2FC-49A0-4376-870F-1802609AAF12}"/>
              </a:ext>
            </a:extLst>
          </p:cNvPr>
          <p:cNvSpPr>
            <a:spLocks xmlns:a="http://schemas.openxmlformats.org/drawingml/2006/main" noGrp="1"/>
          </p:cNvSpPr>
          <p:nvPr/>
        </p:nvSpPr>
        <p:spPr>
          <a:xfrm xmlns:a="http://schemas.openxmlformats.org/drawingml/2006/main">
            <a:off x="400050" y="257175"/>
            <a:ext cx="113919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72B4D"/>
                </a:solidFill>
                <a:latin typeface="DejaVu Sans"/>
                <a:ea typeface="DejaVu Sans"/>
                <a:cs typeface="DejaVu Sans"/>
              </a:defRPr>
            </a:pPr>
            <a:r>
              <a:rPr sz="3000" b="1">
                <a:solidFill>
                  <a:srgbClr val="172B4D"/>
                </a:solidFill>
                <a:latin typeface="DejaVu Sans"/>
                <a:ea typeface="DejaVu Sans"/>
                <a:cs typeface="DejaVu Sans"/>
              </a:rPr>
              <a:t>One step: calculate, update, repeat</a:t>
            </a:r>
          </a:p>
        </p:txBody>
      </p:sp>
      <p:sp>
        <p:nvSpPr>
          <p:cNvPr id="2" name="">
            <a:extLst xmlns:a="http://schemas.openxmlformats.org/drawingml/2006/main">
              <a:ext uri="{FF2B5EF4-FFF2-40B4-BE49-F238E27FC236}">
                <a16:creationId xmlns:a16="http://schemas.microsoft.com/office/drawing/2014/main" id="{6DD1F6BB-0979-4BE3-B5EB-64DAB3CE9556}"/>
              </a:ext>
            </a:extLst>
          </p:cNvPr>
          <p:cNvSpPr>
            <a:spLocks xmlns:a="http://schemas.openxmlformats.org/drawingml/2006/main" noGrp="1"/>
          </p:cNvSpPr>
          <p:nvPr/>
        </p:nvSpPr>
        <p:spPr>
          <a:xfrm xmlns:a="http://schemas.openxmlformats.org/drawingml/2006/main">
            <a:off x="400050" y="94297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52627A"/>
                </a:solidFill>
                <a:latin typeface="DejaVu Sans"/>
                <a:ea typeface="DejaVu Sans"/>
                <a:cs typeface="DejaVu Sans"/>
              </a:defRPr>
            </a:pPr>
            <a:r>
              <a:rPr sz="1725" b="0">
                <a:solidFill>
                  <a:srgbClr val="52627A"/>
                </a:solidFill>
                <a:latin typeface="DejaVu Sans"/>
                <a:ea typeface="DejaVu Sans"/>
                <a:cs typeface="DejaVu Sans"/>
              </a:rPr>
              <a:t>Start at B₀ = B₁ = 0. Predictions are (0, 0, 0), so errors are (−1, −3, −5).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a8982aaaf36467a"/>
          <a:stretch xmlns:a="http://schemas.openxmlformats.org/drawingml/2006/main"/>
        </p:blipFill>
        <p:spPr>
          <a:xfrm xmlns:a="http://schemas.openxmlformats.org/drawingml/2006/main">
            <a:off x="453088" y="1781175"/>
            <a:ext cx="4780248" cy="3810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188F16-0877-465A-B8C5-DFC922A6D042}"/>
              </a:ext>
            </a:extLst>
          </p:cNvPr>
          <p:cNvSpPr>
            <a:spLocks xmlns:a="http://schemas.openxmlformats.org/drawingml/2006/main" noGrp="1"/>
          </p:cNvSpPr>
          <p:nvPr/>
        </p:nvSpPr>
        <p:spPr>
          <a:xfrm xmlns:a="http://schemas.openxmlformats.org/drawingml/2006/main">
            <a:off x="5762625" y="1590675"/>
            <a:ext cx="590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7653C7"/>
                </a:solidFill>
                <a:latin typeface="DejaVu Sans"/>
                <a:ea typeface="DejaVu Sans"/>
                <a:cs typeface="DejaVu Sans"/>
              </a:defRPr>
            </a:pPr>
            <a:r>
              <a:rPr sz="1875" b="1">
                <a:solidFill>
                  <a:srgbClr val="7653C7"/>
                </a:solidFill>
                <a:latin typeface="DejaVu Sans"/>
                <a:ea typeface="DejaVu Sans"/>
                <a:cs typeface="DejaVu Sans"/>
              </a:rPr>
              <a:t>Calculate both derivatives from all 3 rows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7dae178dd7f4bcb"/>
          <a:stretch xmlns:a="http://schemas.openxmlformats.org/drawingml/2006/main"/>
        </p:blipFill>
        <p:spPr>
          <a:xfrm xmlns:a="http://schemas.openxmlformats.org/drawingml/2006/main">
            <a:off x="5762625" y="1987600"/>
            <a:ext cx="5905500" cy="692051"/>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c07cf1a31d064ee3"/>
          <a:stretch xmlns:a="http://schemas.openxmlformats.org/drawingml/2006/main"/>
        </p:blipFill>
        <p:spPr>
          <a:xfrm xmlns:a="http://schemas.openxmlformats.org/drawingml/2006/main">
            <a:off x="5762625" y="2787700"/>
            <a:ext cx="5905500" cy="69205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15116D3-40F1-473F-BCD9-AFB6EA4B6A14}"/>
              </a:ext>
            </a:extLst>
          </p:cNvPr>
          <p:cNvSpPr>
            <a:spLocks xmlns:a="http://schemas.openxmlformats.org/drawingml/2006/main" noGrp="1"/>
          </p:cNvSpPr>
          <p:nvPr/>
        </p:nvSpPr>
        <p:spPr>
          <a:xfrm xmlns:a="http://schemas.openxmlformats.org/drawingml/2006/main">
            <a:off x="5762625" y="362902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28845B"/>
                </a:solidFill>
                <a:latin typeface="DejaVu Sans"/>
                <a:ea typeface="DejaVu Sans"/>
                <a:cs typeface="DejaVu Sans"/>
              </a:defRPr>
            </a:pPr>
            <a:r>
              <a:rPr sz="1950" b="1">
                <a:solidFill>
                  <a:srgbClr val="28845B"/>
                </a:solidFill>
                <a:latin typeface="DejaVu Sans"/>
                <a:ea typeface="DejaVu Sans"/>
                <a:cs typeface="DejaVu Sans"/>
              </a:rPr>
              <a:t>Apply learning rate α = 0.1</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806e11d84054350"/>
          <a:stretch xmlns:a="http://schemas.openxmlformats.org/drawingml/2006/main"/>
        </p:blipFill>
        <p:spPr>
          <a:xfrm xmlns:a="http://schemas.openxmlformats.org/drawingml/2006/main">
            <a:off x="5762625" y="4030712"/>
            <a:ext cx="5905500" cy="692051"/>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f9aea1b7c08443c0"/>
          <a:stretch xmlns:a="http://schemas.openxmlformats.org/drawingml/2006/main"/>
        </p:blipFill>
        <p:spPr>
          <a:xfrm xmlns:a="http://schemas.openxmlformats.org/drawingml/2006/main">
            <a:off x="5762625" y="4811762"/>
            <a:ext cx="5905500" cy="692051"/>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B6EE5A4C-CAF4-45ED-9677-C6C6CDB3927C}"/>
              </a:ext>
            </a:extLst>
          </p:cNvPr>
          <p:cNvSpPr>
            <a:spLocks xmlns:a="http://schemas.openxmlformats.org/drawingml/2006/main" noGrp="1"/>
          </p:cNvSpPr>
          <p:nvPr/>
        </p:nvSpPr>
        <p:spPr>
          <a:xfrm xmlns:a="http://schemas.openxmlformats.org/drawingml/2006/main">
            <a:off x="400050" y="6229350"/>
            <a:ext cx="11391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27A"/>
                </a:solidFill>
                <a:latin typeface="DejaVu Sans"/>
                <a:ea typeface="DejaVu Sans"/>
                <a:cs typeface="DejaVu Sans"/>
              </a:defRPr>
            </a:pPr>
            <a:r>
              <a:rPr sz="1500" b="0">
                <a:solidFill>
                  <a:srgbClr val="52627A"/>
                </a:solidFill>
                <a:latin typeface="DejaVu Sans"/>
                <a:ea typeface="DejaVu Sans"/>
                <a:cs typeface="DejaVu Sans"/>
              </a:rPr>
              <a:t>MSE: 11.667 → 3.207. Recalculate predictions and gradients at the new parameters, then repeat.</a:t>
            </a:r>
          </a:p>
        </p:txBody>
      </p:sp>
      <p:sp>
        <p:nvSpPr>
          <p:cNvPr id="11" name="">
            <a:extLst xmlns:a="http://schemas.openxmlformats.org/drawingml/2006/main">
              <a:ext uri="{FF2B5EF4-FFF2-40B4-BE49-F238E27FC236}">
                <a16:creationId xmlns:a16="http://schemas.microsoft.com/office/drawing/2014/main" id="{181799D3-783E-4972-A4A4-B12BF478FA4C}"/>
              </a:ext>
            </a:extLst>
          </p:cNvPr>
          <p:cNvSpPr>
            <a:spLocks xmlns:a="http://schemas.openxmlformats.org/drawingml/2006/main" noGrp="1"/>
          </p:cNvSpPr>
          <p:nvPr/>
        </p:nvSpPr>
        <p:spPr>
          <a:xfrm xmlns:a="http://schemas.openxmlformats.org/drawingml/2006/main">
            <a:off x="11144250" y="65627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a:solidFill>
                  <a:srgbClr val="52627A"/>
                </a:solidFill>
                <a:latin typeface="DejaVu Sans"/>
                <a:ea typeface="DejaVu Sans"/>
                <a:cs typeface="DejaVu Sans"/>
              </a:defRPr>
            </a:pPr>
            <a:r>
              <a:rPr sz="975" b="0">
                <a:solidFill>
                  <a:srgbClr val="52627A"/>
                </a:solidFill>
                <a:latin typeface="DejaVu Sans"/>
                <a:ea typeface="DejaVu Sans"/>
                <a:cs typeface="DejaVu Sans"/>
              </a:rPr>
              <a:t>5</a:t>
            </a:r>
          </a:p>
        </p:txBody>
      </p:sp>
    </p:spTree>
    <p:extLst>
      <p:ext uri="{BB962C8B-B14F-4D97-AF65-F5344CB8AC3E}">
        <p14:creationId xmlns:p14="http://schemas.microsoft.com/office/powerpoint/2010/main" val="1871292892"/>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A6CF4B2-2099-4296-8228-08D0671DAA99}"/>
              </a:ext>
            </a:extLst>
          </p:cNvPr>
          <p:cNvSpPr>
            <a:spLocks xmlns:a="http://schemas.openxmlformats.org/drawingml/2006/main" noGrp="1"/>
          </p:cNvSpPr>
          <p:nvPr/>
        </p:nvSpPr>
        <p:spPr>
          <a:xfrm xmlns:a="http://schemas.openxmlformats.org/drawingml/2006/main">
            <a:off x="400050" y="257175"/>
            <a:ext cx="113919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72B4D"/>
                </a:solidFill>
                <a:latin typeface="DejaVu Sans"/>
                <a:ea typeface="DejaVu Sans"/>
                <a:cs typeface="DejaVu Sans"/>
              </a:defRPr>
            </a:pPr>
            <a:r>
              <a:rPr sz="3000" b="1">
                <a:solidFill>
                  <a:srgbClr val="172B4D"/>
                </a:solidFill>
                <a:latin typeface="DejaVu Sans"/>
                <a:ea typeface="DejaVu Sans"/>
                <a:cs typeface="DejaVu Sans"/>
              </a:rPr>
              <a:t>The learning rate controls the step size</a:t>
            </a:r>
          </a:p>
        </p:txBody>
      </p:sp>
      <p:sp>
        <p:nvSpPr>
          <p:cNvPr id="2" name="">
            <a:extLst xmlns:a="http://schemas.openxmlformats.org/drawingml/2006/main">
              <a:ext uri="{FF2B5EF4-FFF2-40B4-BE49-F238E27FC236}">
                <a16:creationId xmlns:a16="http://schemas.microsoft.com/office/drawing/2014/main" id="{43510BCC-F25A-4776-B851-448ED65516FB}"/>
              </a:ext>
            </a:extLst>
          </p:cNvPr>
          <p:cNvSpPr>
            <a:spLocks xmlns:a="http://schemas.openxmlformats.org/drawingml/2006/main" noGrp="1"/>
          </p:cNvSpPr>
          <p:nvPr/>
        </p:nvSpPr>
        <p:spPr>
          <a:xfrm xmlns:a="http://schemas.openxmlformats.org/drawingml/2006/main">
            <a:off x="400050" y="94297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52627A"/>
                </a:solidFill>
                <a:latin typeface="DejaVu Sans"/>
                <a:ea typeface="DejaVu Sans"/>
                <a:cs typeface="DejaVu Sans"/>
              </a:defRPr>
            </a:pPr>
            <a:r>
              <a:rPr sz="1725" b="0">
                <a:solidFill>
                  <a:srgbClr val="52627A"/>
                </a:solidFill>
                <a:latin typeface="DejaVu Sans"/>
                <a:ea typeface="DejaVu Sans"/>
                <a:cs typeface="DejaVu Sans"/>
              </a:rPr>
              <a:t>Same data, same starting point, same update rule. Only α changes.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46b80c866e549e0"/>
          <a:stretch xmlns:a="http://schemas.openxmlformats.org/drawingml/2006/main"/>
        </p:blipFill>
        <p:spPr>
          <a:xfrm xmlns:a="http://schemas.openxmlformats.org/drawingml/2006/main">
            <a:off x="400050" y="1739489"/>
            <a:ext cx="11391900" cy="349332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D0B3308-23E3-461F-9D03-DED7D72DE39A}"/>
              </a:ext>
            </a:extLst>
          </p:cNvPr>
          <p:cNvSpPr>
            <a:spLocks xmlns:a="http://schemas.openxmlformats.org/drawingml/2006/main" noGrp="1"/>
          </p:cNvSpPr>
          <p:nvPr/>
        </p:nvSpPr>
        <p:spPr>
          <a:xfrm xmlns:a="http://schemas.openxmlformats.org/drawingml/2006/main">
            <a:off x="619125" y="5267325"/>
            <a:ext cx="335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479B9"/>
                </a:solidFill>
                <a:latin typeface="DejaVu Sans"/>
                <a:ea typeface="DejaVu Sans"/>
                <a:cs typeface="DejaVu Sans"/>
              </a:defRPr>
            </a:pPr>
            <a:r>
              <a:rPr sz="1875" b="1">
                <a:solidFill>
                  <a:srgbClr val="2479B9"/>
                </a:solidFill>
                <a:latin typeface="DejaVu Sans"/>
                <a:ea typeface="DejaVu Sans"/>
                <a:cs typeface="DejaVu Sans"/>
              </a:rPr>
              <a:t>Small steps make</a:t>
            </a:r>
          </a:p>
          <a:p xmlns:a="http://schemas.openxmlformats.org/drawingml/2006/main">
            <a:pPr algn="ctr">
              <a:defRPr sz="1875" b="1">
                <a:solidFill>
                  <a:srgbClr val="2479B9"/>
                </a:solidFill>
                <a:latin typeface="DejaVu Sans"/>
                <a:ea typeface="DejaVu Sans"/>
                <a:cs typeface="DejaVu Sans"/>
              </a:defRPr>
            </a:pPr>
            <a:r>
              <a:rPr sz="1875" b="1">
                <a:solidFill>
                  <a:srgbClr val="2479B9"/>
                </a:solidFill>
                <a:latin typeface="DejaVu Sans"/>
                <a:ea typeface="DejaVu Sans"/>
                <a:cs typeface="DejaVu Sans"/>
              </a:rPr>
              <a:t>slow progress.</a:t>
            </a:r>
          </a:p>
        </p:txBody>
      </p:sp>
      <p:sp>
        <p:nvSpPr>
          <p:cNvPr id="5" name="">
            <a:extLst xmlns:a="http://schemas.openxmlformats.org/drawingml/2006/main">
              <a:ext uri="{FF2B5EF4-FFF2-40B4-BE49-F238E27FC236}">
                <a16:creationId xmlns:a16="http://schemas.microsoft.com/office/drawing/2014/main" id="{0D0F09B7-AD1F-4E5E-980A-70ED4990BBCB}"/>
              </a:ext>
            </a:extLst>
          </p:cNvPr>
          <p:cNvSpPr>
            <a:spLocks xmlns:a="http://schemas.openxmlformats.org/drawingml/2006/main" noGrp="1"/>
          </p:cNvSpPr>
          <p:nvPr/>
        </p:nvSpPr>
        <p:spPr>
          <a:xfrm xmlns:a="http://schemas.openxmlformats.org/drawingml/2006/main">
            <a:off x="4400550" y="5267325"/>
            <a:ext cx="335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28845B"/>
                </a:solidFill>
                <a:latin typeface="DejaVu Sans"/>
                <a:ea typeface="DejaVu Sans"/>
                <a:cs typeface="DejaVu Sans"/>
              </a:defRPr>
            </a:pPr>
            <a:r>
              <a:rPr sz="1875" b="1">
                <a:solidFill>
                  <a:srgbClr val="28845B"/>
                </a:solidFill>
                <a:latin typeface="DejaVu Sans"/>
                <a:ea typeface="DejaVu Sans"/>
                <a:cs typeface="DejaVu Sans"/>
              </a:rPr>
              <a:t>A suitable step size</a:t>
            </a:r>
          </a:p>
          <a:p xmlns:a="http://schemas.openxmlformats.org/drawingml/2006/main">
            <a:pPr algn="ctr">
              <a:defRPr sz="1875" b="1">
                <a:solidFill>
                  <a:srgbClr val="28845B"/>
                </a:solidFill>
                <a:latin typeface="DejaVu Sans"/>
                <a:ea typeface="DejaVu Sans"/>
                <a:cs typeface="DejaVu Sans"/>
              </a:defRPr>
            </a:pPr>
            <a:r>
              <a:rPr sz="1875" b="1">
                <a:solidFill>
                  <a:srgbClr val="28845B"/>
                </a:solidFill>
                <a:latin typeface="DejaVu Sans"/>
                <a:ea typeface="DejaVu Sans"/>
                <a:cs typeface="DejaVu Sans"/>
              </a:rPr>
              <a:t>reduces loss steadily.</a:t>
            </a:r>
          </a:p>
        </p:txBody>
      </p:sp>
      <p:sp>
        <p:nvSpPr>
          <p:cNvPr id="6" name="">
            <a:extLst xmlns:a="http://schemas.openxmlformats.org/drawingml/2006/main">
              <a:ext uri="{FF2B5EF4-FFF2-40B4-BE49-F238E27FC236}">
                <a16:creationId xmlns:a16="http://schemas.microsoft.com/office/drawing/2014/main" id="{2B736337-5691-4AC2-B38C-EA4E12942E29}"/>
              </a:ext>
            </a:extLst>
          </p:cNvPr>
          <p:cNvSpPr>
            <a:spLocks xmlns:a="http://schemas.openxmlformats.org/drawingml/2006/main" noGrp="1"/>
          </p:cNvSpPr>
          <p:nvPr/>
        </p:nvSpPr>
        <p:spPr>
          <a:xfrm xmlns:a="http://schemas.openxmlformats.org/drawingml/2006/main">
            <a:off x="8162925" y="5267325"/>
            <a:ext cx="335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DF780A"/>
                </a:solidFill>
                <a:latin typeface="DejaVu Sans"/>
                <a:ea typeface="DejaVu Sans"/>
                <a:cs typeface="DejaVu Sans"/>
              </a:defRPr>
            </a:pPr>
            <a:r>
              <a:rPr sz="1875" b="1">
                <a:solidFill>
                  <a:srgbClr val="DF780A"/>
                </a:solidFill>
                <a:latin typeface="DejaVu Sans"/>
                <a:ea typeface="DejaVu Sans"/>
                <a:cs typeface="DejaVu Sans"/>
              </a:rPr>
              <a:t>Large steps overshoot.</a:t>
            </a:r>
          </a:p>
          <a:p xmlns:a="http://schemas.openxmlformats.org/drawingml/2006/main">
            <a:pPr algn="ctr">
              <a:defRPr sz="1875" b="1">
                <a:solidFill>
                  <a:srgbClr val="DF780A"/>
                </a:solidFill>
                <a:latin typeface="DejaVu Sans"/>
                <a:ea typeface="DejaVu Sans"/>
                <a:cs typeface="DejaVu Sans"/>
              </a:defRPr>
            </a:pPr>
            <a:r>
              <a:rPr sz="1875" b="1">
                <a:solidFill>
                  <a:srgbClr val="DF780A"/>
                </a:solidFill>
                <a:latin typeface="DejaVu Sans"/>
                <a:ea typeface="DejaVu Sans"/>
                <a:cs typeface="DejaVu Sans"/>
              </a:rPr>
              <a:t>Loss grows.</a:t>
            </a:r>
          </a:p>
        </p:txBody>
      </p:sp>
      <p:sp>
        <p:nvSpPr>
          <p:cNvPr id="7" name="">
            <a:extLst xmlns:a="http://schemas.openxmlformats.org/drawingml/2006/main">
              <a:ext uri="{FF2B5EF4-FFF2-40B4-BE49-F238E27FC236}">
                <a16:creationId xmlns:a16="http://schemas.microsoft.com/office/drawing/2014/main" id="{52F2E040-5C72-4180-8744-9E65390E3CE4}"/>
              </a:ext>
            </a:extLst>
          </p:cNvPr>
          <p:cNvSpPr>
            <a:spLocks xmlns:a="http://schemas.openxmlformats.org/drawingml/2006/main" noGrp="1"/>
          </p:cNvSpPr>
          <p:nvPr/>
        </p:nvSpPr>
        <p:spPr>
          <a:xfrm xmlns:a="http://schemas.openxmlformats.org/drawingml/2006/main">
            <a:off x="400050" y="6229350"/>
            <a:ext cx="11391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27A"/>
                </a:solidFill>
                <a:latin typeface="DejaVu Sans"/>
                <a:ea typeface="DejaVu Sans"/>
                <a:cs typeface="DejaVu Sans"/>
              </a:defRPr>
            </a:pPr>
            <a:r>
              <a:rPr sz="1500" b="0">
                <a:solidFill>
                  <a:srgbClr val="52627A"/>
                </a:solidFill>
                <a:latin typeface="DejaVu Sans"/>
                <a:ea typeface="DejaVu Sans"/>
                <a:cs typeface="DejaVu Sans"/>
              </a:rPr>
              <a:t>All three plots use the same logarithmic loss scale. A suitable learning rate depends on the problem.</a:t>
            </a:r>
          </a:p>
        </p:txBody>
      </p:sp>
      <p:sp>
        <p:nvSpPr>
          <p:cNvPr id="8" name="">
            <a:extLst xmlns:a="http://schemas.openxmlformats.org/drawingml/2006/main">
              <a:ext uri="{FF2B5EF4-FFF2-40B4-BE49-F238E27FC236}">
                <a16:creationId xmlns:a16="http://schemas.microsoft.com/office/drawing/2014/main" id="{7AB49D0D-76B5-4F5C-BD2D-CB15C5632D15}"/>
              </a:ext>
            </a:extLst>
          </p:cNvPr>
          <p:cNvSpPr>
            <a:spLocks xmlns:a="http://schemas.openxmlformats.org/drawingml/2006/main" noGrp="1"/>
          </p:cNvSpPr>
          <p:nvPr/>
        </p:nvSpPr>
        <p:spPr>
          <a:xfrm xmlns:a="http://schemas.openxmlformats.org/drawingml/2006/main">
            <a:off x="11144250" y="65627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a:solidFill>
                  <a:srgbClr val="52627A"/>
                </a:solidFill>
                <a:latin typeface="DejaVu Sans"/>
                <a:ea typeface="DejaVu Sans"/>
                <a:cs typeface="DejaVu Sans"/>
              </a:defRPr>
            </a:pPr>
            <a:r>
              <a:rPr sz="975" b="0">
                <a:solidFill>
                  <a:srgbClr val="52627A"/>
                </a:solidFill>
                <a:latin typeface="DejaVu Sans"/>
                <a:ea typeface="DejaVu Sans"/>
                <a:cs typeface="DejaVu Sans"/>
              </a:rPr>
              <a:t>6</a:t>
            </a:r>
          </a:p>
        </p:txBody>
      </p:sp>
    </p:spTree>
    <p:extLst>
      <p:ext uri="{BB962C8B-B14F-4D97-AF65-F5344CB8AC3E}">
        <p14:creationId xmlns:p14="http://schemas.microsoft.com/office/powerpoint/2010/main" val="2057363671"/>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54967AA-4E8A-4246-8DA0-DF7C03BB38E1}"/>
              </a:ext>
            </a:extLst>
          </p:cNvPr>
          <p:cNvSpPr>
            <a:spLocks xmlns:a="http://schemas.openxmlformats.org/drawingml/2006/main" noGrp="1"/>
          </p:cNvSpPr>
          <p:nvPr/>
        </p:nvSpPr>
        <p:spPr>
          <a:xfrm xmlns:a="http://schemas.openxmlformats.org/drawingml/2006/main">
            <a:off x="400050" y="257175"/>
            <a:ext cx="113919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72B4D"/>
                </a:solidFill>
                <a:latin typeface="DejaVu Sans"/>
                <a:ea typeface="DejaVu Sans"/>
                <a:cs typeface="DejaVu Sans"/>
              </a:defRPr>
            </a:pPr>
            <a:r>
              <a:rPr sz="3000" b="1">
                <a:solidFill>
                  <a:srgbClr val="172B4D"/>
                </a:solidFill>
                <a:latin typeface="DejaVu Sans"/>
                <a:ea typeface="DejaVu Sans"/>
                <a:cs typeface="DejaVu Sans"/>
              </a:rPr>
              <a:t>One neuron: a weighted input plus an activation</a:t>
            </a:r>
          </a:p>
        </p:txBody>
      </p:sp>
      <p:sp>
        <p:nvSpPr>
          <p:cNvPr id="2" name="">
            <a:extLst xmlns:a="http://schemas.openxmlformats.org/drawingml/2006/main">
              <a:ext uri="{FF2B5EF4-FFF2-40B4-BE49-F238E27FC236}">
                <a16:creationId xmlns:a16="http://schemas.microsoft.com/office/drawing/2014/main" id="{332F06FE-48C7-46B3-9AF1-77CEC5F86183}"/>
              </a:ext>
            </a:extLst>
          </p:cNvPr>
          <p:cNvSpPr>
            <a:spLocks xmlns:a="http://schemas.openxmlformats.org/drawingml/2006/main" noGrp="1"/>
          </p:cNvSpPr>
          <p:nvPr/>
        </p:nvSpPr>
        <p:spPr>
          <a:xfrm xmlns:a="http://schemas.openxmlformats.org/drawingml/2006/main">
            <a:off x="400050" y="94297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52627A"/>
                </a:solidFill>
                <a:latin typeface="DejaVu Sans"/>
                <a:ea typeface="DejaVu Sans"/>
                <a:cs typeface="DejaVu Sans"/>
              </a:defRPr>
            </a:pPr>
            <a:r>
              <a:rPr sz="1725" b="0">
                <a:solidFill>
                  <a:srgbClr val="52627A"/>
                </a:solidFill>
                <a:latin typeface="DejaVu Sans"/>
                <a:ea typeface="DejaVu Sans"/>
                <a:cs typeface="DejaVu Sans"/>
              </a:rPr>
              <a:t>One input x, one learned weight w, one learned bias b, and one output ŷ.</a:t>
            </a:r>
          </a:p>
        </p:txBody>
      </p:sp>
      <p:sp>
        <p:nvSpPr>
          <p:cNvPr id="3" name="">
            <a:extLst xmlns:a="http://schemas.openxmlformats.org/drawingml/2006/main">
              <a:ext uri="{FF2B5EF4-FFF2-40B4-BE49-F238E27FC236}">
                <a16:creationId xmlns:a16="http://schemas.microsoft.com/office/drawing/2014/main" id="{6693117A-B535-4D8E-ACA3-2516DF70A5CE}"/>
              </a:ext>
            </a:extLst>
          </p:cNvPr>
          <p:cNvSpPr>
            <a:spLocks xmlns:a="http://schemas.openxmlformats.org/drawingml/2006/main" noGrp="1"/>
          </p:cNvSpPr>
          <p:nvPr/>
        </p:nvSpPr>
        <p:spPr>
          <a:xfrm xmlns:a="http://schemas.openxmlformats.org/drawingml/2006/main">
            <a:off x="666750" y="2419350"/>
            <a:ext cx="1285875" cy="857250"/>
          </a:xfrm>
          <a:prstGeom xmlns:a="http://schemas.openxmlformats.org/drawingml/2006/main" prst="roundRect">
            <a:avLst>
              <a:gd name="adj" fmla="val 8889"/>
            </a:avLst>
          </a:prstGeom>
          <a:solidFill xmlns:a="http://schemas.openxmlformats.org/drawingml/2006/main">
            <a:srgbClr val="E1F0F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a:solidFill>
                  <a:srgbClr val="2479B9"/>
                </a:solidFill>
                <a:latin typeface="DejaVu Sans"/>
                <a:ea typeface="DejaVu Sans"/>
                <a:cs typeface="DejaVu Sans"/>
              </a:defRPr>
            </a:pPr>
            <a:r>
              <a:rPr sz="2175">
                <a:solidFill>
                  <a:srgbClr val="2479B9"/>
                </a:solidFill>
                <a:latin typeface="DejaVu Sans"/>
                <a:ea typeface="DejaVu Sans"/>
                <a:cs typeface="DejaVu Sans"/>
              </a:rPr>
              <a:t>Input x</a:t>
            </a:r>
          </a:p>
        </p:txBody>
      </p:sp>
      <p:sp>
        <p:nvSpPr>
          <p:cNvPr id="4" name="">
            <a:extLst xmlns:a="http://schemas.openxmlformats.org/drawingml/2006/main">
              <a:ext uri="{FF2B5EF4-FFF2-40B4-BE49-F238E27FC236}">
                <a16:creationId xmlns:a16="http://schemas.microsoft.com/office/drawing/2014/main" id="{1FDCA431-F236-4405-9CB8-15E051BB5376}"/>
              </a:ext>
            </a:extLst>
          </p:cNvPr>
          <p:cNvSpPr>
            <a:spLocks xmlns:a="http://schemas.openxmlformats.org/drawingml/2006/main" noGrp="1"/>
          </p:cNvSpPr>
          <p:nvPr/>
        </p:nvSpPr>
        <p:spPr>
          <a:xfrm xmlns:a="http://schemas.openxmlformats.org/drawingml/2006/main">
            <a:off x="3267075" y="2314575"/>
            <a:ext cx="2447925" cy="1066800"/>
          </a:xfrm>
          <a:prstGeom xmlns:a="http://schemas.openxmlformats.org/drawingml/2006/main" prst="roundRect">
            <a:avLst>
              <a:gd name="adj" fmla="val 7143"/>
            </a:avLst>
          </a:prstGeom>
          <a:solidFill xmlns:a="http://schemas.openxmlformats.org/drawingml/2006/main">
            <a:srgbClr val="F0EAFA"/>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a:solidFill>
                  <a:srgbClr val="7653C7"/>
                </a:solidFill>
                <a:latin typeface="DejaVu Sans"/>
                <a:ea typeface="DejaVu Sans"/>
                <a:cs typeface="DejaVu Sans"/>
              </a:defRPr>
            </a:pPr>
            <a:r>
              <a:rPr sz="2175">
                <a:solidFill>
                  <a:srgbClr val="7653C7"/>
                </a:solidFill>
                <a:latin typeface="DejaVu Sans"/>
                <a:ea typeface="DejaVu Sans"/>
                <a:cs typeface="DejaVu Sans"/>
              </a:rPr>
              <a:t>Weighted sum</a:t>
            </a:r>
          </a:p>
          <a:p xmlns:a="http://schemas.openxmlformats.org/drawingml/2006/main">
            <a:pPr algn="ctr">
              <a:defRPr sz="2175">
                <a:solidFill>
                  <a:srgbClr val="7653C7"/>
                </a:solidFill>
                <a:latin typeface="DejaVu Sans"/>
                <a:ea typeface="DejaVu Sans"/>
                <a:cs typeface="DejaVu Sans"/>
              </a:defRPr>
            </a:pPr>
            <a:r>
              <a:rPr sz="2175">
                <a:solidFill>
                  <a:srgbClr val="7653C7"/>
                </a:solidFill>
                <a:latin typeface="DejaVu Sans"/>
                <a:ea typeface="DejaVu Sans"/>
                <a:cs typeface="DejaVu Sans"/>
              </a:rPr>
              <a:t>z = wx + b</a:t>
            </a:r>
          </a:p>
        </p:txBody>
      </p:sp>
      <p:sp>
        <p:nvSpPr>
          <p:cNvPr id="5" name="">
            <a:extLst xmlns:a="http://schemas.openxmlformats.org/drawingml/2006/main">
              <a:ext uri="{FF2B5EF4-FFF2-40B4-BE49-F238E27FC236}">
                <a16:creationId xmlns:a16="http://schemas.microsoft.com/office/drawing/2014/main" id="{6DD9C1EF-EB0D-4DA6-8029-4222CF01DDBA}"/>
              </a:ext>
            </a:extLst>
          </p:cNvPr>
          <p:cNvSpPr>
            <a:spLocks xmlns:a="http://schemas.openxmlformats.org/drawingml/2006/main" noGrp="1"/>
          </p:cNvSpPr>
          <p:nvPr/>
        </p:nvSpPr>
        <p:spPr>
          <a:xfrm xmlns:a="http://schemas.openxmlformats.org/drawingml/2006/main">
            <a:off x="6867525" y="2314575"/>
            <a:ext cx="2057400" cy="1066800"/>
          </a:xfrm>
          <a:prstGeom xmlns:a="http://schemas.openxmlformats.org/drawingml/2006/main" prst="roundRect">
            <a:avLst>
              <a:gd name="adj" fmla="val 7143"/>
            </a:avLst>
          </a:prstGeom>
          <a:solidFill xmlns:a="http://schemas.openxmlformats.org/drawingml/2006/main">
            <a:srgbClr val="F0EAFA"/>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a:solidFill>
                  <a:srgbClr val="7653C7"/>
                </a:solidFill>
                <a:latin typeface="DejaVu Sans"/>
                <a:ea typeface="DejaVu Sans"/>
                <a:cs typeface="DejaVu Sans"/>
              </a:defRPr>
            </a:pPr>
            <a:r>
              <a:rPr sz="2175">
                <a:solidFill>
                  <a:srgbClr val="7653C7"/>
                </a:solidFill>
                <a:latin typeface="DejaVu Sans"/>
                <a:ea typeface="DejaVu Sans"/>
                <a:cs typeface="DejaVu Sans"/>
              </a:rPr>
              <a:t>Sigmoid</a:t>
            </a:r>
          </a:p>
          <a:p xmlns:a="http://schemas.openxmlformats.org/drawingml/2006/main">
            <a:pPr algn="ctr">
              <a:defRPr sz="2175">
                <a:solidFill>
                  <a:srgbClr val="7653C7"/>
                </a:solidFill>
                <a:latin typeface="DejaVu Sans"/>
                <a:ea typeface="DejaVu Sans"/>
                <a:cs typeface="DejaVu Sans"/>
              </a:defRPr>
            </a:pPr>
            <a:r>
              <a:rPr sz="2175">
                <a:solidFill>
                  <a:srgbClr val="7653C7"/>
                </a:solidFill>
                <a:latin typeface="DejaVu Sans"/>
                <a:ea typeface="DejaVu Sans"/>
                <a:cs typeface="DejaVu Sans"/>
              </a:rPr>
              <a:t>σ(z)</a:t>
            </a:r>
          </a:p>
        </p:txBody>
      </p:sp>
      <p:sp>
        <p:nvSpPr>
          <p:cNvPr id="6" name="">
            <a:extLst xmlns:a="http://schemas.openxmlformats.org/drawingml/2006/main">
              <a:ext uri="{FF2B5EF4-FFF2-40B4-BE49-F238E27FC236}">
                <a16:creationId xmlns:a16="http://schemas.microsoft.com/office/drawing/2014/main" id="{C6BC70BA-DBEB-4D2E-9500-685EB3300D45}"/>
              </a:ext>
            </a:extLst>
          </p:cNvPr>
          <p:cNvSpPr>
            <a:spLocks xmlns:a="http://schemas.openxmlformats.org/drawingml/2006/main" noGrp="1"/>
          </p:cNvSpPr>
          <p:nvPr/>
        </p:nvSpPr>
        <p:spPr>
          <a:xfrm xmlns:a="http://schemas.openxmlformats.org/drawingml/2006/main">
            <a:off x="10096500" y="2419350"/>
            <a:ext cx="1428750" cy="857250"/>
          </a:xfrm>
          <a:prstGeom xmlns:a="http://schemas.openxmlformats.org/drawingml/2006/main" prst="roundRect">
            <a:avLst>
              <a:gd name="adj" fmla="val 8889"/>
            </a:avLst>
          </a:prstGeom>
          <a:solidFill xmlns:a="http://schemas.openxmlformats.org/drawingml/2006/main">
            <a:srgbClr val="EAF6EF"/>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28845B"/>
                </a:solidFill>
                <a:latin typeface="DejaVu Sans"/>
                <a:ea typeface="DejaVu Sans"/>
                <a:cs typeface="DejaVu Sans"/>
              </a:defRPr>
            </a:pPr>
            <a:r>
              <a:rPr sz="2025">
                <a:solidFill>
                  <a:srgbClr val="28845B"/>
                </a:solidFill>
                <a:latin typeface="DejaVu Sans"/>
                <a:ea typeface="DejaVu Sans"/>
                <a:cs typeface="DejaVu Sans"/>
              </a:rPr>
              <a:t>Output ŷ</a:t>
            </a:r>
          </a:p>
        </p:txBody>
      </p:sp>
      <p:cxnSp>
        <p:nvCxnSpPr>
          <p:cNvPr id="22" name=""/>
          <p:cNvCxnSpPr>
            <a:stCxn xmlns:a="http://schemas.openxmlformats.org/drawingml/2006/main" id="3" idx="3"/>
            <a:endCxn xmlns:a="http://schemas.openxmlformats.org/drawingml/2006/main" id="4" idx="1"/>
          </p:cNvCxnSpPr>
          <p:nvPr/>
        </p:nvCxnSpPr>
        <p:spPr>
          <a:xfrm xmlns:a="http://schemas.openxmlformats.org/drawingml/2006/main">
            <a:off x="1952625" y="2847975"/>
            <a:ext cx="1314450" cy="0"/>
          </a:xfrm>
          <a:prstGeom xmlns:a="http://schemas.openxmlformats.org/drawingml/2006/main" prst="straightConnector1">
            <a:avLst/>
          </a:prstGeom>
          <a:ln xmlns:a="http://schemas.openxmlformats.org/drawingml/2006/main" w="28575">
            <a:solidFill>
              <a:srgbClr val="2479B9"/>
            </a:solidFill>
            <a:tailEnd type="triangle" w="sm" len="sm"/>
          </a:ln>
        </p:spPr>
      </p:cxnSp>
      <p:cxnSp>
        <p:nvCxnSpPr>
          <p:cNvPr id="23" name=""/>
          <p:cNvCxnSpPr>
            <a:stCxn xmlns:a="http://schemas.openxmlformats.org/drawingml/2006/main" id="4" idx="3"/>
            <a:endCxn xmlns:a="http://schemas.openxmlformats.org/drawingml/2006/main" id="5" idx="1"/>
          </p:cNvCxnSpPr>
          <p:nvPr/>
        </p:nvCxnSpPr>
        <p:spPr>
          <a:xfrm xmlns:a="http://schemas.openxmlformats.org/drawingml/2006/main">
            <a:off x="5715000" y="2847975"/>
            <a:ext cx="1152525" cy="0"/>
          </a:xfrm>
          <a:prstGeom xmlns:a="http://schemas.openxmlformats.org/drawingml/2006/main" prst="straightConnector1">
            <a:avLst/>
          </a:prstGeom>
          <a:ln xmlns:a="http://schemas.openxmlformats.org/drawingml/2006/main" w="28575">
            <a:solidFill>
              <a:srgbClr val="7653C7"/>
            </a:solidFill>
            <a:tailEnd type="triangle" w="sm" len="sm"/>
          </a:ln>
        </p:spPr>
      </p:cxn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8924925" y="2847975"/>
            <a:ext cx="1171575" cy="0"/>
          </a:xfrm>
          <a:prstGeom xmlns:a="http://schemas.openxmlformats.org/drawingml/2006/main" prst="straightConnector1">
            <a:avLst/>
          </a:prstGeom>
          <a:ln xmlns:a="http://schemas.openxmlformats.org/drawingml/2006/main" w="28575">
            <a:solidFill>
              <a:srgbClr val="28845B"/>
            </a:solidFill>
            <a:tailEnd type="triangle" w="sm" len="sm"/>
          </a:ln>
        </p:spPr>
      </p:cxnSp>
      <p:sp>
        <p:nvSpPr>
          <p:cNvPr id="10" name="">
            <a:extLst xmlns:a="http://schemas.openxmlformats.org/drawingml/2006/main">
              <a:ext uri="{FF2B5EF4-FFF2-40B4-BE49-F238E27FC236}">
                <a16:creationId xmlns:a16="http://schemas.microsoft.com/office/drawing/2014/main" id="{B02CF72B-158F-43FF-8A17-3D23D0DA3BB0}"/>
              </a:ext>
            </a:extLst>
          </p:cNvPr>
          <p:cNvSpPr>
            <a:spLocks xmlns:a="http://schemas.openxmlformats.org/drawingml/2006/main" noGrp="1"/>
          </p:cNvSpPr>
          <p:nvPr/>
        </p:nvSpPr>
        <p:spPr>
          <a:xfrm xmlns:a="http://schemas.openxmlformats.org/drawingml/2006/main">
            <a:off x="2095500" y="1933575"/>
            <a:ext cx="109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950" b="1">
                <a:solidFill>
                  <a:srgbClr val="2479B9"/>
                </a:solidFill>
                <a:latin typeface="DejaVu Sans"/>
                <a:ea typeface="DejaVu Sans"/>
                <a:cs typeface="DejaVu Sans"/>
              </a:defRPr>
            </a:pPr>
            <a:r>
              <a:rPr sz="1950" b="1">
                <a:solidFill>
                  <a:srgbClr val="2479B9"/>
                </a:solidFill>
                <a:latin typeface="DejaVu Sans"/>
                <a:ea typeface="DejaVu Sans"/>
                <a:cs typeface="DejaVu Sans"/>
              </a:rPr>
              <a:t>× w</a:t>
            </a:r>
          </a:p>
        </p:txBody>
      </p:sp>
      <p:sp>
        <p:nvSpPr>
          <p:cNvPr id="11" name="">
            <a:extLst xmlns:a="http://schemas.openxmlformats.org/drawingml/2006/main">
              <a:ext uri="{FF2B5EF4-FFF2-40B4-BE49-F238E27FC236}">
                <a16:creationId xmlns:a16="http://schemas.microsoft.com/office/drawing/2014/main" id="{71160B61-1C59-4382-9B95-9DB208287777}"/>
              </a:ext>
            </a:extLst>
          </p:cNvPr>
          <p:cNvSpPr>
            <a:spLocks xmlns:a="http://schemas.openxmlformats.org/drawingml/2006/main" noGrp="1"/>
          </p:cNvSpPr>
          <p:nvPr/>
        </p:nvSpPr>
        <p:spPr>
          <a:xfrm xmlns:a="http://schemas.openxmlformats.org/drawingml/2006/main">
            <a:off x="3057525" y="3609975"/>
            <a:ext cx="609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52627A"/>
                </a:solidFill>
                <a:latin typeface="DejaVu Sans"/>
                <a:ea typeface="DejaVu Sans"/>
                <a:cs typeface="DejaVu Sans"/>
              </a:defRPr>
            </a:pPr>
            <a:r>
              <a:rPr sz="1875" b="0">
                <a:solidFill>
                  <a:srgbClr val="52627A"/>
                </a:solidFill>
                <a:latin typeface="DejaVu Sans"/>
                <a:ea typeface="DejaVu Sans"/>
                <a:cs typeface="DejaVu Sans"/>
              </a:rPr>
              <a:t>Together, these operations form one neuron.</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634ce577fc204fad"/>
          <a:stretch xmlns:a="http://schemas.openxmlformats.org/drawingml/2006/main"/>
        </p:blipFill>
        <p:spPr>
          <a:xfrm xmlns:a="http://schemas.openxmlformats.org/drawingml/2006/main">
            <a:off x="857250" y="4391025"/>
            <a:ext cx="6572250" cy="1095375"/>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e97cdbb7b7742bb"/>
          <a:stretch xmlns:a="http://schemas.openxmlformats.org/drawingml/2006/main"/>
        </p:blipFill>
        <p:spPr>
          <a:xfrm xmlns:a="http://schemas.openxmlformats.org/drawingml/2006/main">
            <a:off x="8686800" y="4257836"/>
            <a:ext cx="2724150" cy="1304603"/>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4EF6600A-2A5C-4A37-BC24-18EADDFF2975}"/>
              </a:ext>
            </a:extLst>
          </p:cNvPr>
          <p:cNvSpPr>
            <a:spLocks xmlns:a="http://schemas.openxmlformats.org/drawingml/2006/main" noGrp="1"/>
          </p:cNvSpPr>
          <p:nvPr/>
        </p:nvSpPr>
        <p:spPr>
          <a:xfrm xmlns:a="http://schemas.openxmlformats.org/drawingml/2006/main">
            <a:off x="400050" y="6229350"/>
            <a:ext cx="11391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27A"/>
                </a:solidFill>
                <a:latin typeface="DejaVu Sans"/>
                <a:ea typeface="DejaVu Sans"/>
                <a:cs typeface="DejaVu Sans"/>
              </a:defRPr>
            </a:pPr>
            <a:r>
              <a:rPr sz="1500" b="0">
                <a:solidFill>
                  <a:srgbClr val="52627A"/>
                </a:solidFill>
                <a:latin typeface="DejaVu Sans"/>
                <a:ea typeface="DejaVu Sans"/>
                <a:cs typeface="DejaVu Sans"/>
              </a:rPr>
              <a:t>The sigmoid maps the weighted sum to (0, 1). Training adjusts w and b.</a:t>
            </a:r>
          </a:p>
        </p:txBody>
      </p:sp>
      <p:sp>
        <p:nvSpPr>
          <p:cNvPr id="15" name="">
            <a:extLst xmlns:a="http://schemas.openxmlformats.org/drawingml/2006/main">
              <a:ext uri="{FF2B5EF4-FFF2-40B4-BE49-F238E27FC236}">
                <a16:creationId xmlns:a16="http://schemas.microsoft.com/office/drawing/2014/main" id="{DC740497-CDB5-43BF-BA7F-7699C1BFACEF}"/>
              </a:ext>
            </a:extLst>
          </p:cNvPr>
          <p:cNvSpPr>
            <a:spLocks xmlns:a="http://schemas.openxmlformats.org/drawingml/2006/main" noGrp="1"/>
          </p:cNvSpPr>
          <p:nvPr/>
        </p:nvSpPr>
        <p:spPr>
          <a:xfrm xmlns:a="http://schemas.openxmlformats.org/drawingml/2006/main">
            <a:off x="11144250" y="65627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a:solidFill>
                  <a:srgbClr val="52627A"/>
                </a:solidFill>
                <a:latin typeface="DejaVu Sans"/>
                <a:ea typeface="DejaVu Sans"/>
                <a:cs typeface="DejaVu Sans"/>
              </a:defRPr>
            </a:pPr>
            <a:r>
              <a:rPr sz="975" b="0">
                <a:solidFill>
                  <a:srgbClr val="52627A"/>
                </a:solidFill>
                <a:latin typeface="DejaVu Sans"/>
                <a:ea typeface="DejaVu Sans"/>
                <a:cs typeface="DejaVu Sans"/>
              </a:rPr>
              <a:t>7</a:t>
            </a:r>
          </a:p>
        </p:txBody>
      </p:sp>
    </p:spTree>
    <p:extLst>
      <p:ext uri="{BB962C8B-B14F-4D97-AF65-F5344CB8AC3E}">
        <p14:creationId xmlns:p14="http://schemas.microsoft.com/office/powerpoint/2010/main" val="1758466043"/>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128137B-9E8F-4FFD-893D-65CA7A2A2F6C}"/>
              </a:ext>
            </a:extLst>
          </p:cNvPr>
          <p:cNvSpPr>
            <a:spLocks xmlns:a="http://schemas.openxmlformats.org/drawingml/2006/main" noGrp="1"/>
          </p:cNvSpPr>
          <p:nvPr/>
        </p:nvSpPr>
        <p:spPr>
          <a:xfrm xmlns:a="http://schemas.openxmlformats.org/drawingml/2006/main">
            <a:off x="400050" y="257175"/>
            <a:ext cx="113919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72B4D"/>
                </a:solidFill>
                <a:latin typeface="DejaVu Sans"/>
                <a:ea typeface="DejaVu Sans"/>
                <a:cs typeface="DejaVu Sans"/>
              </a:defRPr>
            </a:pPr>
            <a:r>
              <a:rPr sz="3000" b="1">
                <a:solidFill>
                  <a:srgbClr val="172B4D"/>
                </a:solidFill>
                <a:latin typeface="DejaVu Sans"/>
                <a:ea typeface="DejaVu Sans"/>
                <a:cs typeface="DejaVu Sans"/>
              </a:rPr>
              <a:t>The neuron gradient: apply the chain rule</a:t>
            </a:r>
          </a:p>
        </p:txBody>
      </p:sp>
      <p:sp>
        <p:nvSpPr>
          <p:cNvPr id="2" name="">
            <a:extLst xmlns:a="http://schemas.openxmlformats.org/drawingml/2006/main">
              <a:ext uri="{FF2B5EF4-FFF2-40B4-BE49-F238E27FC236}">
                <a16:creationId xmlns:a16="http://schemas.microsoft.com/office/drawing/2014/main" id="{89D29650-FFC1-4628-8EC5-4E9BFE09F352}"/>
              </a:ext>
            </a:extLst>
          </p:cNvPr>
          <p:cNvSpPr>
            <a:spLocks xmlns:a="http://schemas.openxmlformats.org/drawingml/2006/main" noGrp="1"/>
          </p:cNvSpPr>
          <p:nvPr/>
        </p:nvSpPr>
        <p:spPr>
          <a:xfrm xmlns:a="http://schemas.openxmlformats.org/drawingml/2006/main">
            <a:off x="400050" y="94297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52627A"/>
                </a:solidFill>
                <a:latin typeface="DejaVu Sans"/>
                <a:ea typeface="DejaVu Sans"/>
                <a:cs typeface="DejaVu Sans"/>
              </a:defRPr>
            </a:pPr>
            <a:r>
              <a:rPr sz="1725" b="0">
                <a:solidFill>
                  <a:srgbClr val="52627A"/>
                </a:solidFill>
                <a:latin typeface="DejaVu Sans"/>
                <a:ea typeface="DejaVu Sans"/>
                <a:cs typeface="DejaVu Sans"/>
              </a:rPr>
              <a:t>Use MSE for one observed pair (x, y). Keep x and y fixed while changing w or b.</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6c7631c0c8a4987"/>
          <a:stretch xmlns:a="http://schemas.openxmlformats.org/drawingml/2006/main"/>
        </p:blipFill>
        <p:spPr>
          <a:xfrm xmlns:a="http://schemas.openxmlformats.org/drawingml/2006/main">
            <a:off x="552450" y="1363524"/>
            <a:ext cx="11049000" cy="76862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59F2475-B890-44B8-AAC9-33FF9F379319}"/>
              </a:ext>
            </a:extLst>
          </p:cNvPr>
          <p:cNvSpPr>
            <a:spLocks xmlns:a="http://schemas.openxmlformats.org/drawingml/2006/main" noGrp="1"/>
          </p:cNvSpPr>
          <p:nvPr/>
        </p:nvSpPr>
        <p:spPr>
          <a:xfrm xmlns:a="http://schemas.openxmlformats.org/drawingml/2006/main">
            <a:off x="581025" y="220980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72B4D"/>
                </a:solidFill>
                <a:latin typeface="DejaVu Sans"/>
                <a:ea typeface="DejaVu Sans"/>
                <a:cs typeface="DejaVu Sans"/>
              </a:defRPr>
            </a:pPr>
            <a:r>
              <a:rPr sz="1875" b="1">
                <a:solidFill>
                  <a:srgbClr val="172B4D"/>
                </a:solidFill>
                <a:latin typeface="DejaVu Sans"/>
                <a:ea typeface="DejaVu Sans"/>
                <a:cs typeface="DejaVu Sans"/>
              </a:rPr>
              <a:t>1. Differentiate with respect to w</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4222fd613c44d29"/>
          <a:stretch xmlns:a="http://schemas.openxmlformats.org/drawingml/2006/main"/>
        </p:blipFill>
        <p:spPr>
          <a:xfrm xmlns:a="http://schemas.openxmlformats.org/drawingml/2006/main">
            <a:off x="1138238" y="2552700"/>
            <a:ext cx="9858375" cy="771525"/>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df41bac51c07491c"/>
          <a:stretch xmlns:a="http://schemas.openxmlformats.org/drawingml/2006/main"/>
        </p:blipFill>
        <p:spPr>
          <a:xfrm xmlns:a="http://schemas.openxmlformats.org/drawingml/2006/main">
            <a:off x="1167342" y="3343275"/>
            <a:ext cx="10466917" cy="819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C53CF4C-A620-4BE7-872D-86F65665E5F8}"/>
              </a:ext>
            </a:extLst>
          </p:cNvPr>
          <p:cNvSpPr>
            <a:spLocks xmlns:a="http://schemas.openxmlformats.org/drawingml/2006/main" noGrp="1"/>
          </p:cNvSpPr>
          <p:nvPr/>
        </p:nvSpPr>
        <p:spPr>
          <a:xfrm xmlns:a="http://schemas.openxmlformats.org/drawingml/2006/main">
            <a:off x="581025" y="4200525"/>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72B4D"/>
                </a:solidFill>
                <a:latin typeface="DejaVu Sans"/>
                <a:ea typeface="DejaVu Sans"/>
                <a:cs typeface="DejaVu Sans"/>
              </a:defRPr>
            </a:pPr>
            <a:r>
              <a:rPr sz="1875" b="1">
                <a:solidFill>
                  <a:srgbClr val="172B4D"/>
                </a:solidFill>
                <a:latin typeface="DejaVu Sans"/>
                <a:ea typeface="DejaVu Sans"/>
                <a:cs typeface="DejaVu Sans"/>
              </a:rPr>
              <a:t>2. Differentiate with respect to b</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9a8ad15dcc24a11"/>
          <a:stretch xmlns:a="http://schemas.openxmlformats.org/drawingml/2006/main"/>
        </p:blipFill>
        <p:spPr>
          <a:xfrm xmlns:a="http://schemas.openxmlformats.org/drawingml/2006/main">
            <a:off x="1138238" y="4562475"/>
            <a:ext cx="9858375" cy="77152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1e0e8f8bf894ee1"/>
          <a:stretch xmlns:a="http://schemas.openxmlformats.org/drawingml/2006/main"/>
        </p:blipFill>
        <p:spPr>
          <a:xfrm xmlns:a="http://schemas.openxmlformats.org/drawingml/2006/main">
            <a:off x="1167342" y="5362575"/>
            <a:ext cx="10466917" cy="8191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B709325-1AC3-42DE-A2EC-A5DE59D0C7B1}"/>
              </a:ext>
            </a:extLst>
          </p:cNvPr>
          <p:cNvSpPr>
            <a:spLocks xmlns:a="http://schemas.openxmlformats.org/drawingml/2006/main" noGrp="1"/>
          </p:cNvSpPr>
          <p:nvPr/>
        </p:nvSpPr>
        <p:spPr>
          <a:xfrm xmlns:a="http://schemas.openxmlformats.org/drawingml/2006/main">
            <a:off x="400050" y="6229350"/>
            <a:ext cx="11391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27A"/>
                </a:solidFill>
                <a:latin typeface="DejaVu Sans"/>
                <a:ea typeface="DejaVu Sans"/>
                <a:cs typeface="DejaVu Sans"/>
              </a:defRPr>
            </a:pPr>
            <a:r>
              <a:rPr sz="1500" b="0">
                <a:solidFill>
                  <a:srgbClr val="52627A"/>
                </a:solidFill>
                <a:latin typeface="DejaVu Sans"/>
                <a:ea typeface="DejaVu Sans"/>
                <a:cs typeface="DejaVu Sans"/>
              </a:rPr>
              <a:t>Three factors: derivative of squared loss × derivative of sigmoid × derivative of wx + b.</a:t>
            </a:r>
          </a:p>
        </p:txBody>
      </p:sp>
      <p:sp>
        <p:nvSpPr>
          <p:cNvPr id="11" name="">
            <a:extLst xmlns:a="http://schemas.openxmlformats.org/drawingml/2006/main">
              <a:ext uri="{FF2B5EF4-FFF2-40B4-BE49-F238E27FC236}">
                <a16:creationId xmlns:a16="http://schemas.microsoft.com/office/drawing/2014/main" id="{E174AACC-C65A-4BB2-80AC-B946D8F8B03E}"/>
              </a:ext>
            </a:extLst>
          </p:cNvPr>
          <p:cNvSpPr>
            <a:spLocks xmlns:a="http://schemas.openxmlformats.org/drawingml/2006/main" noGrp="1"/>
          </p:cNvSpPr>
          <p:nvPr/>
        </p:nvSpPr>
        <p:spPr>
          <a:xfrm xmlns:a="http://schemas.openxmlformats.org/drawingml/2006/main">
            <a:off x="11144250" y="65627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a:solidFill>
                  <a:srgbClr val="52627A"/>
                </a:solidFill>
                <a:latin typeface="DejaVu Sans"/>
                <a:ea typeface="DejaVu Sans"/>
                <a:cs typeface="DejaVu Sans"/>
              </a:defRPr>
            </a:pPr>
            <a:r>
              <a:rPr sz="975" b="0">
                <a:solidFill>
                  <a:srgbClr val="52627A"/>
                </a:solidFill>
                <a:latin typeface="DejaVu Sans"/>
                <a:ea typeface="DejaVu Sans"/>
                <a:cs typeface="DejaVu Sans"/>
              </a:rPr>
              <a:t>8</a:t>
            </a:r>
          </a:p>
        </p:txBody>
      </p:sp>
    </p:spTree>
    <p:extLst>
      <p:ext uri="{BB962C8B-B14F-4D97-AF65-F5344CB8AC3E}">
        <p14:creationId xmlns:p14="http://schemas.microsoft.com/office/powerpoint/2010/main" val="1367999111"/>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D0A71E0-E7EA-4F41-BDF8-A7D3C1409D40}"/>
              </a:ext>
            </a:extLst>
          </p:cNvPr>
          <p:cNvSpPr>
            <a:spLocks xmlns:a="http://schemas.openxmlformats.org/drawingml/2006/main" noGrp="1"/>
          </p:cNvSpPr>
          <p:nvPr/>
        </p:nvSpPr>
        <p:spPr>
          <a:xfrm xmlns:a="http://schemas.openxmlformats.org/drawingml/2006/main">
            <a:off x="400050" y="257175"/>
            <a:ext cx="113919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72B4D"/>
                </a:solidFill>
                <a:latin typeface="DejaVu Sans"/>
                <a:ea typeface="DejaVu Sans"/>
                <a:cs typeface="DejaVu Sans"/>
              </a:defRPr>
            </a:pPr>
            <a:r>
              <a:rPr sz="3000" b="1">
                <a:solidFill>
                  <a:srgbClr val="172B4D"/>
                </a:solidFill>
                <a:latin typeface="DejaVu Sans"/>
                <a:ea typeface="DejaVu Sans"/>
                <a:cs typeface="DejaVu Sans"/>
              </a:rPr>
              <a:t>One neuron: calculate and apply one update</a:t>
            </a:r>
          </a:p>
        </p:txBody>
      </p:sp>
      <p:sp>
        <p:nvSpPr>
          <p:cNvPr id="2" name="">
            <a:extLst xmlns:a="http://schemas.openxmlformats.org/drawingml/2006/main">
              <a:ext uri="{FF2B5EF4-FFF2-40B4-BE49-F238E27FC236}">
                <a16:creationId xmlns:a16="http://schemas.microsoft.com/office/drawing/2014/main" id="{88516D57-B87C-42F7-A9EC-2C7DD7AECA80}"/>
              </a:ext>
            </a:extLst>
          </p:cNvPr>
          <p:cNvSpPr>
            <a:spLocks xmlns:a="http://schemas.openxmlformats.org/drawingml/2006/main" noGrp="1"/>
          </p:cNvSpPr>
          <p:nvPr/>
        </p:nvSpPr>
        <p:spPr>
          <a:xfrm xmlns:a="http://schemas.openxmlformats.org/drawingml/2006/main">
            <a:off x="400050" y="94297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52627A"/>
                </a:solidFill>
                <a:latin typeface="DejaVu Sans"/>
                <a:ea typeface="DejaVu Sans"/>
                <a:cs typeface="DejaVu Sans"/>
              </a:defRPr>
            </a:pPr>
            <a:r>
              <a:rPr sz="1725" b="0">
                <a:solidFill>
                  <a:srgbClr val="52627A"/>
                </a:solidFill>
                <a:latin typeface="DejaVu Sans"/>
                <a:ea typeface="DejaVu Sans"/>
                <a:cs typeface="DejaVu Sans"/>
              </a:rPr>
              <a:t>One training observation: x = 2, y = 1. Start at w = b = 0. Learning rate α = 0.1.</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679ff206adc489f"/>
          <a:stretch xmlns:a="http://schemas.openxmlformats.org/drawingml/2006/main"/>
        </p:blipFill>
        <p:spPr>
          <a:xfrm xmlns:a="http://schemas.openxmlformats.org/drawingml/2006/main">
            <a:off x="571500" y="1615937"/>
            <a:ext cx="11049000" cy="76862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8230A1D-6655-4C23-A996-3B5D7711819E}"/>
              </a:ext>
            </a:extLst>
          </p:cNvPr>
          <p:cNvSpPr>
            <a:spLocks xmlns:a="http://schemas.openxmlformats.org/drawingml/2006/main" noGrp="1"/>
          </p:cNvSpPr>
          <p:nvPr/>
        </p:nvSpPr>
        <p:spPr>
          <a:xfrm xmlns:a="http://schemas.openxmlformats.org/drawingml/2006/main">
            <a:off x="619125" y="2705100"/>
            <a:ext cx="542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7653C7"/>
                </a:solidFill>
                <a:latin typeface="DejaVu Sans"/>
                <a:ea typeface="DejaVu Sans"/>
                <a:cs typeface="DejaVu Sans"/>
              </a:defRPr>
            </a:pPr>
            <a:r>
              <a:rPr sz="2100" b="1">
                <a:solidFill>
                  <a:srgbClr val="7653C7"/>
                </a:solidFill>
                <a:latin typeface="DejaVu Sans"/>
                <a:ea typeface="DejaVu Sans"/>
                <a:cs typeface="DejaVu Sans"/>
              </a:rPr>
              <a:t>Calculate the gradients</a:t>
            </a:r>
          </a:p>
        </p:txBody>
      </p:sp>
      <p:sp>
        <p:nvSpPr>
          <p:cNvPr id="5" name="">
            <a:extLst xmlns:a="http://schemas.openxmlformats.org/drawingml/2006/main">
              <a:ext uri="{FF2B5EF4-FFF2-40B4-BE49-F238E27FC236}">
                <a16:creationId xmlns:a16="http://schemas.microsoft.com/office/drawing/2014/main" id="{A041A9BB-A9B4-409C-A736-B520C4A23AF9}"/>
              </a:ext>
            </a:extLst>
          </p:cNvPr>
          <p:cNvSpPr>
            <a:spLocks xmlns:a="http://schemas.openxmlformats.org/drawingml/2006/main" noGrp="1"/>
          </p:cNvSpPr>
          <p:nvPr/>
        </p:nvSpPr>
        <p:spPr>
          <a:xfrm xmlns:a="http://schemas.openxmlformats.org/drawingml/2006/main">
            <a:off x="6553200" y="27051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28845B"/>
                </a:solidFill>
                <a:latin typeface="DejaVu Sans"/>
                <a:ea typeface="DejaVu Sans"/>
                <a:cs typeface="DejaVu Sans"/>
              </a:defRPr>
            </a:pPr>
            <a:r>
              <a:rPr sz="2100" b="1">
                <a:solidFill>
                  <a:srgbClr val="28845B"/>
                </a:solidFill>
                <a:latin typeface="DejaVu Sans"/>
                <a:ea typeface="DejaVu Sans"/>
                <a:cs typeface="DejaVu Sans"/>
              </a:rPr>
              <a:t>Subtract α × each gradient</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3253cd352734a23"/>
          <a:stretch xmlns:a="http://schemas.openxmlformats.org/drawingml/2006/main"/>
        </p:blipFill>
        <p:spPr>
          <a:xfrm xmlns:a="http://schemas.openxmlformats.org/drawingml/2006/main">
            <a:off x="581025" y="3298031"/>
            <a:ext cx="5429250" cy="814388"/>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78e0c1891eb84779"/>
          <a:stretch xmlns:a="http://schemas.openxmlformats.org/drawingml/2006/main"/>
        </p:blipFill>
        <p:spPr>
          <a:xfrm xmlns:a="http://schemas.openxmlformats.org/drawingml/2006/main">
            <a:off x="581025" y="4326731"/>
            <a:ext cx="5429250" cy="814388"/>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84041222673240f3"/>
          <a:stretch xmlns:a="http://schemas.openxmlformats.org/drawingml/2006/main"/>
        </p:blipFill>
        <p:spPr>
          <a:xfrm xmlns:a="http://schemas.openxmlformats.org/drawingml/2006/main">
            <a:off x="6457950" y="3316486"/>
            <a:ext cx="5286375" cy="748903"/>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092999682a547e3"/>
          <a:stretch xmlns:a="http://schemas.openxmlformats.org/drawingml/2006/main"/>
        </p:blipFill>
        <p:spPr>
          <a:xfrm xmlns:a="http://schemas.openxmlformats.org/drawingml/2006/main">
            <a:off x="6457950" y="4345186"/>
            <a:ext cx="5286375" cy="74890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45EAF72-0725-426E-AC3A-244C9788714C}"/>
              </a:ext>
            </a:extLst>
          </p:cNvPr>
          <p:cNvSpPr>
            <a:spLocks xmlns:a="http://schemas.openxmlformats.org/drawingml/2006/main" noGrp="1"/>
          </p:cNvSpPr>
          <p:nvPr/>
        </p:nvSpPr>
        <p:spPr>
          <a:xfrm xmlns:a="http://schemas.openxmlformats.org/drawingml/2006/main">
            <a:off x="619125" y="5362575"/>
            <a:ext cx="1104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8845B"/>
                </a:solidFill>
                <a:latin typeface="DejaVu Sans"/>
                <a:ea typeface="DejaVu Sans"/>
                <a:cs typeface="DejaVu Sans"/>
              </a:defRPr>
            </a:pPr>
            <a:r>
              <a:rPr sz="2175" b="1">
                <a:solidFill>
                  <a:srgbClr val="28845B"/>
                </a:solidFill>
                <a:latin typeface="DejaVu Sans"/>
                <a:ea typeface="DejaVu Sans"/>
                <a:cs typeface="DejaVu Sans"/>
              </a:rPr>
              <a:t>New output ≈ 0.5312. MSE falls from 0.2500 to 0.2198.</a:t>
            </a:r>
          </a:p>
        </p:txBody>
      </p:sp>
      <p:sp>
        <p:nvSpPr>
          <p:cNvPr id="11" name="">
            <a:extLst xmlns:a="http://schemas.openxmlformats.org/drawingml/2006/main">
              <a:ext uri="{FF2B5EF4-FFF2-40B4-BE49-F238E27FC236}">
                <a16:creationId xmlns:a16="http://schemas.microsoft.com/office/drawing/2014/main" id="{255A5913-FE59-417D-989D-B72448B83176}"/>
              </a:ext>
            </a:extLst>
          </p:cNvPr>
          <p:cNvSpPr>
            <a:spLocks xmlns:a="http://schemas.openxmlformats.org/drawingml/2006/main" noGrp="1"/>
          </p:cNvSpPr>
          <p:nvPr/>
        </p:nvSpPr>
        <p:spPr>
          <a:xfrm xmlns:a="http://schemas.openxmlformats.org/drawingml/2006/main">
            <a:off x="400050" y="6229350"/>
            <a:ext cx="11391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27A"/>
                </a:solidFill>
                <a:latin typeface="DejaVu Sans"/>
                <a:ea typeface="DejaVu Sans"/>
                <a:cs typeface="DejaVu Sans"/>
              </a:defRPr>
            </a:pPr>
            <a:r>
              <a:rPr sz="1500" b="0">
                <a:solidFill>
                  <a:srgbClr val="52627A"/>
                </a:solidFill>
                <a:latin typeface="DejaVu Sans"/>
                <a:ea typeface="DejaVu Sans"/>
                <a:cs typeface="DejaVu Sans"/>
              </a:rPr>
              <a:t>Recalculate the output and gradients at the updated w and b, then repeat.</a:t>
            </a:r>
          </a:p>
        </p:txBody>
      </p:sp>
      <p:sp>
        <p:nvSpPr>
          <p:cNvPr id="12" name="">
            <a:extLst xmlns:a="http://schemas.openxmlformats.org/drawingml/2006/main">
              <a:ext uri="{FF2B5EF4-FFF2-40B4-BE49-F238E27FC236}">
                <a16:creationId xmlns:a16="http://schemas.microsoft.com/office/drawing/2014/main" id="{1E2FB1C2-5B25-4ACD-8856-BE5ABB3ADADC}"/>
              </a:ext>
            </a:extLst>
          </p:cNvPr>
          <p:cNvSpPr>
            <a:spLocks xmlns:a="http://schemas.openxmlformats.org/drawingml/2006/main" noGrp="1"/>
          </p:cNvSpPr>
          <p:nvPr/>
        </p:nvSpPr>
        <p:spPr>
          <a:xfrm xmlns:a="http://schemas.openxmlformats.org/drawingml/2006/main">
            <a:off x="11144250" y="65627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a:solidFill>
                  <a:srgbClr val="52627A"/>
                </a:solidFill>
                <a:latin typeface="DejaVu Sans"/>
                <a:ea typeface="DejaVu Sans"/>
                <a:cs typeface="DejaVu Sans"/>
              </a:defRPr>
            </a:pPr>
            <a:r>
              <a:rPr sz="975" b="0">
                <a:solidFill>
                  <a:srgbClr val="52627A"/>
                </a:solidFill>
                <a:latin typeface="DejaVu Sans"/>
                <a:ea typeface="DejaVu Sans"/>
                <a:cs typeface="DejaVu Sans"/>
              </a:rPr>
              <a:t>9</a:t>
            </a:r>
          </a:p>
        </p:txBody>
      </p:sp>
    </p:spTree>
    <p:extLst>
      <p:ext uri="{BB962C8B-B14F-4D97-AF65-F5344CB8AC3E}">
        <p14:creationId xmlns:p14="http://schemas.microsoft.com/office/powerpoint/2010/main" val="658262076"/>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B8BD9E5-483B-4070-9779-1FCCF0EF775D}"/>
              </a:ext>
            </a:extLst>
          </p:cNvPr>
          <p:cNvSpPr>
            <a:spLocks xmlns:a="http://schemas.openxmlformats.org/drawingml/2006/main" noGrp="1"/>
          </p:cNvSpPr>
          <p:nvPr/>
        </p:nvSpPr>
        <p:spPr>
          <a:xfrm xmlns:a="http://schemas.openxmlformats.org/drawingml/2006/main">
            <a:off x="400050" y="257175"/>
            <a:ext cx="113919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72B4D"/>
                </a:solidFill>
                <a:latin typeface="DejaVu Sans"/>
                <a:ea typeface="DejaVu Sans"/>
                <a:cs typeface="DejaVu Sans"/>
              </a:defRPr>
            </a:pPr>
            <a:r>
              <a:rPr sz="3000" b="1">
                <a:solidFill>
                  <a:srgbClr val="172B4D"/>
                </a:solidFill>
                <a:latin typeface="DejaVu Sans"/>
                <a:ea typeface="DejaVu Sans"/>
                <a:cs typeface="DejaVu Sans"/>
              </a:rPr>
              <a:t>Common activation functions and their derivatives</a:t>
            </a:r>
          </a:p>
        </p:txBody>
      </p:sp>
      <p:sp>
        <p:nvSpPr>
          <p:cNvPr id="2" name="">
            <a:extLst xmlns:a="http://schemas.openxmlformats.org/drawingml/2006/main">
              <a:ext uri="{FF2B5EF4-FFF2-40B4-BE49-F238E27FC236}">
                <a16:creationId xmlns:a16="http://schemas.microsoft.com/office/drawing/2014/main" id="{ABCBF73F-5562-4198-A883-236384E7CF17}"/>
              </a:ext>
            </a:extLst>
          </p:cNvPr>
          <p:cNvSpPr>
            <a:spLocks xmlns:a="http://schemas.openxmlformats.org/drawingml/2006/main" noGrp="1"/>
          </p:cNvSpPr>
          <p:nvPr/>
        </p:nvSpPr>
        <p:spPr>
          <a:xfrm xmlns:a="http://schemas.openxmlformats.org/drawingml/2006/main">
            <a:off x="400050" y="94297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52627A"/>
                </a:solidFill>
                <a:latin typeface="DejaVu Sans"/>
                <a:ea typeface="DejaVu Sans"/>
                <a:cs typeface="DejaVu Sans"/>
              </a:defRPr>
            </a:pPr>
            <a:r>
              <a:rPr sz="1725" b="0">
                <a:solidFill>
                  <a:srgbClr val="52627A"/>
                </a:solidFill>
                <a:latin typeface="DejaVu Sans"/>
                <a:ea typeface="DejaVu Sans"/>
                <a:cs typeface="DejaVu Sans"/>
              </a:rPr>
              <a:t>The activation derivative is the middle factor in the neuron’s chain rule.</a:t>
            </a:r>
          </a:p>
        </p:txBody>
      </p:sp>
      <p:sp>
        <p:nvSpPr>
          <p:cNvPr id="3" name="">
            <a:extLst xmlns:a="http://schemas.openxmlformats.org/drawingml/2006/main">
              <a:ext uri="{FF2B5EF4-FFF2-40B4-BE49-F238E27FC236}">
                <a16:creationId xmlns:a16="http://schemas.microsoft.com/office/drawing/2014/main" id="{7672E777-0E13-42B7-9A20-D246A00F7AE9}"/>
              </a:ext>
            </a:extLst>
          </p:cNvPr>
          <p:cNvSpPr>
            <a:spLocks xmlns:a="http://schemas.openxmlformats.org/drawingml/2006/main" noGrp="1"/>
          </p:cNvSpPr>
          <p:nvPr/>
        </p:nvSpPr>
        <p:spPr>
          <a:xfrm xmlns:a="http://schemas.openxmlformats.org/drawingml/2006/main">
            <a:off x="590550" y="1476375"/>
            <a:ext cx="1571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72B4D"/>
                </a:solidFill>
                <a:latin typeface="DejaVu Sans"/>
                <a:ea typeface="DejaVu Sans"/>
                <a:cs typeface="DejaVu Sans"/>
              </a:defRPr>
            </a:pPr>
            <a:r>
              <a:rPr sz="1725" b="1">
                <a:solidFill>
                  <a:srgbClr val="172B4D"/>
                </a:solidFill>
                <a:latin typeface="DejaVu Sans"/>
                <a:ea typeface="DejaVu Sans"/>
                <a:cs typeface="DejaVu Sans"/>
              </a:rPr>
              <a:t>Activation</a:t>
            </a:r>
          </a:p>
        </p:txBody>
      </p:sp>
      <p:sp>
        <p:nvSpPr>
          <p:cNvPr id="4" name="">
            <a:extLst xmlns:a="http://schemas.openxmlformats.org/drawingml/2006/main">
              <a:ext uri="{FF2B5EF4-FFF2-40B4-BE49-F238E27FC236}">
                <a16:creationId xmlns:a16="http://schemas.microsoft.com/office/drawing/2014/main" id="{F69448F3-4AE4-448E-8722-DDF264635E86}"/>
              </a:ext>
            </a:extLst>
          </p:cNvPr>
          <p:cNvSpPr>
            <a:spLocks xmlns:a="http://schemas.openxmlformats.org/drawingml/2006/main" noGrp="1"/>
          </p:cNvSpPr>
          <p:nvPr/>
        </p:nvSpPr>
        <p:spPr>
          <a:xfrm xmlns:a="http://schemas.openxmlformats.org/drawingml/2006/main">
            <a:off x="2562225" y="1476375"/>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72B4D"/>
                </a:solidFill>
                <a:latin typeface="DejaVu Sans"/>
                <a:ea typeface="DejaVu Sans"/>
                <a:cs typeface="DejaVu Sans"/>
              </a:defRPr>
            </a:pPr>
            <a:r>
              <a:rPr sz="1725" b="1">
                <a:solidFill>
                  <a:srgbClr val="172B4D"/>
                </a:solidFill>
                <a:latin typeface="DejaVu Sans"/>
                <a:ea typeface="DejaVu Sans"/>
                <a:cs typeface="DejaVu Sans"/>
              </a:rPr>
              <a:t>Shape</a:t>
            </a:r>
          </a:p>
        </p:txBody>
      </p:sp>
      <p:sp>
        <p:nvSpPr>
          <p:cNvPr id="5" name="">
            <a:extLst xmlns:a="http://schemas.openxmlformats.org/drawingml/2006/main">
              <a:ext uri="{FF2B5EF4-FFF2-40B4-BE49-F238E27FC236}">
                <a16:creationId xmlns:a16="http://schemas.microsoft.com/office/drawing/2014/main" id="{AACB4A65-B0F5-4414-A05C-FF393715FCBB}"/>
              </a:ext>
            </a:extLst>
          </p:cNvPr>
          <p:cNvSpPr>
            <a:spLocks xmlns:a="http://schemas.openxmlformats.org/drawingml/2006/main" noGrp="1"/>
          </p:cNvSpPr>
          <p:nvPr/>
        </p:nvSpPr>
        <p:spPr>
          <a:xfrm xmlns:a="http://schemas.openxmlformats.org/drawingml/2006/main">
            <a:off x="5657850" y="14763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72B4D"/>
                </a:solidFill>
                <a:latin typeface="DejaVu Sans"/>
                <a:ea typeface="DejaVu Sans"/>
                <a:cs typeface="DejaVu Sans"/>
              </a:defRPr>
            </a:pPr>
            <a:r>
              <a:rPr sz="1725" b="1">
                <a:solidFill>
                  <a:srgbClr val="172B4D"/>
                </a:solidFill>
                <a:latin typeface="DejaVu Sans"/>
                <a:ea typeface="DejaVu Sans"/>
                <a:cs typeface="DejaVu Sans"/>
              </a:rPr>
              <a:t>Function and derivative</a:t>
            </a:r>
          </a:p>
        </p:txBody>
      </p:sp>
      <p:sp>
        <p:nvSpPr>
          <p:cNvPr id="6" name="">
            <a:extLst xmlns:a="http://schemas.openxmlformats.org/drawingml/2006/main">
              <a:ext uri="{FF2B5EF4-FFF2-40B4-BE49-F238E27FC236}">
                <a16:creationId xmlns:a16="http://schemas.microsoft.com/office/drawing/2014/main" id="{5EB6192A-688C-4EA6-B03C-29383B4F5E8E}"/>
              </a:ext>
            </a:extLst>
          </p:cNvPr>
          <p:cNvSpPr>
            <a:spLocks xmlns:a="http://schemas.openxmlformats.org/drawingml/2006/main" noGrp="1"/>
          </p:cNvSpPr>
          <p:nvPr/>
        </p:nvSpPr>
        <p:spPr>
          <a:xfrm xmlns:a="http://schemas.openxmlformats.org/drawingml/2006/main">
            <a:off x="590550" y="1952625"/>
            <a:ext cx="2000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7653C7"/>
                </a:solidFill>
                <a:latin typeface="DejaVu Sans"/>
                <a:ea typeface="DejaVu Sans"/>
                <a:cs typeface="DejaVu Sans"/>
              </a:defRPr>
            </a:pPr>
            <a:r>
              <a:rPr sz="1950" b="1">
                <a:solidFill>
                  <a:srgbClr val="7653C7"/>
                </a:solidFill>
                <a:latin typeface="DejaVu Sans"/>
                <a:ea typeface="DejaVu Sans"/>
                <a:cs typeface="DejaVu Sans"/>
              </a:rPr>
              <a:t>Sigmoid</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b8839a757874d87"/>
          <a:stretch xmlns:a="http://schemas.openxmlformats.org/drawingml/2006/main"/>
        </p:blipFill>
        <p:spPr>
          <a:xfrm xmlns:a="http://schemas.openxmlformats.org/drawingml/2006/main">
            <a:off x="2875207" y="1952625"/>
            <a:ext cx="1869585" cy="8953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d97ade33f1c4bb1"/>
          <a:stretch xmlns:a="http://schemas.openxmlformats.org/drawingml/2006/main"/>
        </p:blipFill>
        <p:spPr>
          <a:xfrm xmlns:a="http://schemas.openxmlformats.org/drawingml/2006/main">
            <a:off x="5730153" y="1914525"/>
            <a:ext cx="5637068" cy="10001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AB61FDB-C73F-4911-A990-B3C0B9251725}"/>
              </a:ext>
            </a:extLst>
          </p:cNvPr>
          <p:cNvSpPr>
            <a:spLocks xmlns:a="http://schemas.openxmlformats.org/drawingml/2006/main" noGrp="1"/>
          </p:cNvSpPr>
          <p:nvPr/>
        </p:nvSpPr>
        <p:spPr>
          <a:xfrm xmlns:a="http://schemas.openxmlformats.org/drawingml/2006/main">
            <a:off x="590550" y="2981325"/>
            <a:ext cx="2000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7653C7"/>
                </a:solidFill>
                <a:latin typeface="DejaVu Sans"/>
                <a:ea typeface="DejaVu Sans"/>
                <a:cs typeface="DejaVu Sans"/>
              </a:defRPr>
            </a:pPr>
            <a:r>
              <a:rPr sz="1950" b="1">
                <a:solidFill>
                  <a:srgbClr val="7653C7"/>
                </a:solidFill>
                <a:latin typeface="DejaVu Sans"/>
                <a:ea typeface="DejaVu Sans"/>
                <a:cs typeface="DejaVu Sans"/>
              </a:rPr>
              <a:t>Tanh</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b9dc9ef29504f35"/>
          <a:stretch xmlns:a="http://schemas.openxmlformats.org/drawingml/2006/main"/>
        </p:blipFill>
        <p:spPr>
          <a:xfrm xmlns:a="http://schemas.openxmlformats.org/drawingml/2006/main">
            <a:off x="2877014" y="2981325"/>
            <a:ext cx="1865973" cy="895350"/>
          </a:xfrm>
          <a:prstGeom xmlns:a="http://schemas.openxmlformats.org/drawingml/2006/main" prst="rect">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c08c0a128db4701"/>
          <a:stretch xmlns:a="http://schemas.openxmlformats.org/drawingml/2006/main"/>
        </p:blipFill>
        <p:spPr>
          <a:xfrm xmlns:a="http://schemas.openxmlformats.org/drawingml/2006/main">
            <a:off x="5730153" y="2943225"/>
            <a:ext cx="5637068" cy="10001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99042810-1E5F-4312-B2CE-693294736EA2}"/>
              </a:ext>
            </a:extLst>
          </p:cNvPr>
          <p:cNvSpPr>
            <a:spLocks xmlns:a="http://schemas.openxmlformats.org/drawingml/2006/main" noGrp="1"/>
          </p:cNvSpPr>
          <p:nvPr/>
        </p:nvSpPr>
        <p:spPr>
          <a:xfrm xmlns:a="http://schemas.openxmlformats.org/drawingml/2006/main">
            <a:off x="590550" y="4010025"/>
            <a:ext cx="2000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7653C7"/>
                </a:solidFill>
                <a:latin typeface="DejaVu Sans"/>
                <a:ea typeface="DejaVu Sans"/>
                <a:cs typeface="DejaVu Sans"/>
              </a:defRPr>
            </a:pPr>
            <a:r>
              <a:rPr sz="1950" b="1">
                <a:solidFill>
                  <a:srgbClr val="7653C7"/>
                </a:solidFill>
                <a:latin typeface="DejaVu Sans"/>
                <a:ea typeface="DejaVu Sans"/>
                <a:cs typeface="DejaVu Sans"/>
              </a:rPr>
              <a:t>ReLU</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86aef4af4a9a4093"/>
          <a:stretch xmlns:a="http://schemas.openxmlformats.org/drawingml/2006/main"/>
        </p:blipFill>
        <p:spPr>
          <a:xfrm xmlns:a="http://schemas.openxmlformats.org/drawingml/2006/main">
            <a:off x="2862688" y="4010025"/>
            <a:ext cx="1894625" cy="895350"/>
          </a:xfrm>
          <a:prstGeom xmlns:a="http://schemas.openxmlformats.org/drawingml/2006/main" prst="rect">
            <a:avLst/>
          </a:prstGeom>
        </p:spPr>
      </p:pic>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013ef391be5403e"/>
          <a:stretch xmlns:a="http://schemas.openxmlformats.org/drawingml/2006/main"/>
        </p:blipFill>
        <p:spPr>
          <a:xfrm xmlns:a="http://schemas.openxmlformats.org/drawingml/2006/main">
            <a:off x="5730153" y="3971925"/>
            <a:ext cx="5637068" cy="100012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2B0C5B13-E259-4B16-A3BA-F35C4D59F36A}"/>
              </a:ext>
            </a:extLst>
          </p:cNvPr>
          <p:cNvSpPr>
            <a:spLocks xmlns:a="http://schemas.openxmlformats.org/drawingml/2006/main" noGrp="1"/>
          </p:cNvSpPr>
          <p:nvPr/>
        </p:nvSpPr>
        <p:spPr>
          <a:xfrm xmlns:a="http://schemas.openxmlformats.org/drawingml/2006/main">
            <a:off x="590550" y="5038725"/>
            <a:ext cx="2000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7653C7"/>
                </a:solidFill>
                <a:latin typeface="DejaVu Sans"/>
                <a:ea typeface="DejaVu Sans"/>
                <a:cs typeface="DejaVu Sans"/>
              </a:defRPr>
            </a:pPr>
            <a:r>
              <a:rPr sz="1950" b="1">
                <a:solidFill>
                  <a:srgbClr val="7653C7"/>
                </a:solidFill>
                <a:latin typeface="DejaVu Sans"/>
                <a:ea typeface="DejaVu Sans"/>
                <a:cs typeface="DejaVu Sans"/>
              </a:rPr>
              <a:t>Leaky ReLU</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a72ff4aa98064f00"/>
          <a:stretch xmlns:a="http://schemas.openxmlformats.org/drawingml/2006/main"/>
        </p:blipFill>
        <p:spPr>
          <a:xfrm xmlns:a="http://schemas.openxmlformats.org/drawingml/2006/main">
            <a:off x="2862688" y="5038725"/>
            <a:ext cx="1894625" cy="895350"/>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7ec597a65b0244e1"/>
          <a:stretch xmlns:a="http://schemas.openxmlformats.org/drawingml/2006/main"/>
        </p:blipFill>
        <p:spPr>
          <a:xfrm xmlns:a="http://schemas.openxmlformats.org/drawingml/2006/main">
            <a:off x="5730153" y="5000625"/>
            <a:ext cx="5637068" cy="100012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C4A4FFA8-091F-4E88-84BF-82181093E255}"/>
              </a:ext>
            </a:extLst>
          </p:cNvPr>
          <p:cNvSpPr>
            <a:spLocks xmlns:a="http://schemas.openxmlformats.org/drawingml/2006/main" noGrp="1"/>
          </p:cNvSpPr>
          <p:nvPr/>
        </p:nvSpPr>
        <p:spPr>
          <a:xfrm xmlns:a="http://schemas.openxmlformats.org/drawingml/2006/main">
            <a:off x="400050" y="6229350"/>
            <a:ext cx="11391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27A"/>
                </a:solidFill>
                <a:latin typeface="DejaVu Sans"/>
                <a:ea typeface="DejaVu Sans"/>
                <a:cs typeface="DejaVu Sans"/>
              </a:defRPr>
            </a:pPr>
            <a:r>
              <a:rPr sz="1500" b="0">
                <a:solidFill>
                  <a:srgbClr val="52627A"/>
                </a:solidFill>
                <a:latin typeface="DejaVu Sans"/>
                <a:ea typeface="DejaVu Sans"/>
                <a:cs typeface="DejaVu Sans"/>
              </a:rPr>
              <a:t>ReLU and Leaky ReLU have a corner at z = 0; implementations choose a backward value there.</a:t>
            </a:r>
          </a:p>
        </p:txBody>
      </p:sp>
      <p:sp>
        <p:nvSpPr>
          <p:cNvPr id="19" name="">
            <a:extLst xmlns:a="http://schemas.openxmlformats.org/drawingml/2006/main">
              <a:ext uri="{FF2B5EF4-FFF2-40B4-BE49-F238E27FC236}">
                <a16:creationId xmlns:a16="http://schemas.microsoft.com/office/drawing/2014/main" id="{B94B45B3-47DE-4E39-885A-1F39510115C7}"/>
              </a:ext>
            </a:extLst>
          </p:cNvPr>
          <p:cNvSpPr>
            <a:spLocks xmlns:a="http://schemas.openxmlformats.org/drawingml/2006/main" noGrp="1"/>
          </p:cNvSpPr>
          <p:nvPr/>
        </p:nvSpPr>
        <p:spPr>
          <a:xfrm xmlns:a="http://schemas.openxmlformats.org/drawingml/2006/main">
            <a:off x="11144250" y="65627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a:solidFill>
                  <a:srgbClr val="52627A"/>
                </a:solidFill>
                <a:latin typeface="DejaVu Sans"/>
                <a:ea typeface="DejaVu Sans"/>
                <a:cs typeface="DejaVu Sans"/>
              </a:defRPr>
            </a:pPr>
            <a:r>
              <a:rPr sz="975" b="0">
                <a:solidFill>
                  <a:srgbClr val="52627A"/>
                </a:solidFill>
                <a:latin typeface="DejaVu Sans"/>
                <a:ea typeface="DejaVu Sans"/>
                <a:cs typeface="DejaVu Sans"/>
              </a:rPr>
              <a:t>10</a:t>
            </a:r>
          </a:p>
        </p:txBody>
      </p:sp>
    </p:spTree>
    <p:extLst>
      <p:ext uri="{BB962C8B-B14F-4D97-AF65-F5344CB8AC3E}">
        <p14:creationId xmlns:p14="http://schemas.microsoft.com/office/powerpoint/2010/main" val="131031010"/>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35AA8D5-0EA2-4953-B53B-C58F42714687}"/>
              </a:ext>
            </a:extLst>
          </p:cNvPr>
          <p:cNvSpPr>
            <a:spLocks xmlns:a="http://schemas.openxmlformats.org/drawingml/2006/main" noGrp="1"/>
          </p:cNvSpPr>
          <p:nvPr/>
        </p:nvSpPr>
        <p:spPr>
          <a:xfrm xmlns:a="http://schemas.openxmlformats.org/drawingml/2006/main">
            <a:off x="400050" y="257175"/>
            <a:ext cx="113919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72B4D"/>
                </a:solidFill>
                <a:latin typeface="DejaVu Sans"/>
                <a:ea typeface="DejaVu Sans"/>
                <a:cs typeface="DejaVu Sans"/>
              </a:defRPr>
            </a:pPr>
            <a:r>
              <a:rPr sz="3000" b="1">
                <a:solidFill>
                  <a:srgbClr val="172B4D"/>
                </a:solidFill>
                <a:latin typeface="DejaVu Sans"/>
                <a:ea typeface="DejaVu Sans"/>
                <a:cs typeface="DejaVu Sans"/>
              </a:rPr>
              <a:t>An RNN neuron: its output becomes its memory</a:t>
            </a:r>
          </a:p>
        </p:txBody>
      </p:sp>
      <p:sp>
        <p:nvSpPr>
          <p:cNvPr id="2" name="">
            <a:extLst xmlns:a="http://schemas.openxmlformats.org/drawingml/2006/main">
              <a:ext uri="{FF2B5EF4-FFF2-40B4-BE49-F238E27FC236}">
                <a16:creationId xmlns:a16="http://schemas.microsoft.com/office/drawing/2014/main" id="{A4C81AAC-2FFA-4DEC-A1FA-8BD8487A35C1}"/>
              </a:ext>
            </a:extLst>
          </p:cNvPr>
          <p:cNvSpPr>
            <a:spLocks xmlns:a="http://schemas.openxmlformats.org/drawingml/2006/main" noGrp="1"/>
          </p:cNvSpPr>
          <p:nvPr/>
        </p:nvSpPr>
        <p:spPr>
          <a:xfrm xmlns:a="http://schemas.openxmlformats.org/drawingml/2006/main">
            <a:off x="400050" y="94297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52627A"/>
                </a:solidFill>
                <a:latin typeface="DejaVu Sans"/>
                <a:ea typeface="DejaVu Sans"/>
                <a:cs typeface="DejaVu Sans"/>
              </a:defRPr>
            </a:pPr>
            <a:r>
              <a:rPr sz="1725" b="0">
                <a:solidFill>
                  <a:srgbClr val="52627A"/>
                </a:solidFill>
                <a:latin typeface="DejaVu Sans"/>
                <a:ea typeface="DejaVu Sans"/>
                <a:cs typeface="DejaVu Sans"/>
              </a:rPr>
              <a:t>Standard RNN with one hidden unit. The same hidden value can also feed a prediction head.</a:t>
            </a:r>
          </a:p>
        </p:txBody>
      </p:sp>
      <p:sp>
        <p:nvSpPr>
          <p:cNvPr id="3" name="">
            <a:extLst xmlns:a="http://schemas.openxmlformats.org/drawingml/2006/main">
              <a:ext uri="{FF2B5EF4-FFF2-40B4-BE49-F238E27FC236}">
                <a16:creationId xmlns:a16="http://schemas.microsoft.com/office/drawing/2014/main" id="{50CA9238-50FE-4A47-B9E5-502FE5FA66C9}"/>
              </a:ext>
            </a:extLst>
          </p:cNvPr>
          <p:cNvSpPr>
            <a:spLocks xmlns:a="http://schemas.openxmlformats.org/drawingml/2006/main" noGrp="1"/>
          </p:cNvSpPr>
          <p:nvPr/>
        </p:nvSpPr>
        <p:spPr>
          <a:xfrm xmlns:a="http://schemas.openxmlformats.org/drawingml/2006/main">
            <a:off x="590550" y="2667000"/>
            <a:ext cx="1571625" cy="857250"/>
          </a:xfrm>
          <a:prstGeom xmlns:a="http://schemas.openxmlformats.org/drawingml/2006/main" prst="roundRect">
            <a:avLst>
              <a:gd name="adj" fmla="val 8889"/>
            </a:avLst>
          </a:prstGeom>
          <a:solidFill xmlns:a="http://schemas.openxmlformats.org/drawingml/2006/main">
            <a:srgbClr val="E1F0F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2479B9"/>
                </a:solidFill>
                <a:latin typeface="DejaVu Sans"/>
                <a:ea typeface="DejaVu Sans"/>
                <a:cs typeface="DejaVu Sans"/>
              </a:defRPr>
            </a:pPr>
            <a:r>
              <a:rPr sz="1950">
                <a:solidFill>
                  <a:srgbClr val="2479B9"/>
                </a:solidFill>
                <a:latin typeface="DejaVu Sans"/>
                <a:ea typeface="DejaVu Sans"/>
                <a:cs typeface="DejaVu Sans"/>
              </a:rPr>
              <a:t>Current input</a:t>
            </a:r>
          </a:p>
          <a:p xmlns:a="http://schemas.openxmlformats.org/drawingml/2006/main">
            <a:pPr algn="ctr">
              <a:defRPr sz="1950">
                <a:solidFill>
                  <a:srgbClr val="2479B9"/>
                </a:solidFill>
                <a:latin typeface="DejaVu Sans"/>
                <a:ea typeface="DejaVu Sans"/>
                <a:cs typeface="DejaVu Sans"/>
              </a:defRPr>
            </a:pPr>
            <a:r>
              <a:rPr sz="1950">
                <a:solidFill>
                  <a:srgbClr val="2479B9"/>
                </a:solidFill>
                <a:latin typeface="DejaVu Sans"/>
                <a:ea typeface="DejaVu Sans"/>
                <a:cs typeface="DejaVu Sans"/>
              </a:rPr>
              <a:t>xₜ</a:t>
            </a:r>
          </a:p>
        </p:txBody>
      </p:sp>
      <p:sp>
        <p:nvSpPr>
          <p:cNvPr id="4" name="">
            <a:extLst xmlns:a="http://schemas.openxmlformats.org/drawingml/2006/main">
              <a:ext uri="{FF2B5EF4-FFF2-40B4-BE49-F238E27FC236}">
                <a16:creationId xmlns:a16="http://schemas.microsoft.com/office/drawing/2014/main" id="{52C5ED19-36E4-4D0D-8905-B2986ADEA453}"/>
              </a:ext>
            </a:extLst>
          </p:cNvPr>
          <p:cNvSpPr>
            <a:spLocks xmlns:a="http://schemas.openxmlformats.org/drawingml/2006/main" noGrp="1"/>
          </p:cNvSpPr>
          <p:nvPr/>
        </p:nvSpPr>
        <p:spPr>
          <a:xfrm xmlns:a="http://schemas.openxmlformats.org/drawingml/2006/main">
            <a:off x="3971925" y="1533525"/>
            <a:ext cx="2333625" cy="723900"/>
          </a:xfrm>
          <a:prstGeom xmlns:a="http://schemas.openxmlformats.org/drawingml/2006/main" prst="roundRect">
            <a:avLst>
              <a:gd name="adj" fmla="val 10526"/>
            </a:avLst>
          </a:prstGeom>
          <a:solidFill xmlns:a="http://schemas.openxmlformats.org/drawingml/2006/main">
            <a:srgbClr val="F0EAFA"/>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7653C7"/>
                </a:solidFill>
                <a:latin typeface="DejaVu Sans"/>
                <a:ea typeface="DejaVu Sans"/>
                <a:cs typeface="DejaVu Sans"/>
              </a:defRPr>
            </a:pPr>
            <a:r>
              <a:rPr sz="1875">
                <a:solidFill>
                  <a:srgbClr val="7653C7"/>
                </a:solidFill>
                <a:latin typeface="DejaVu Sans"/>
                <a:ea typeface="DejaVu Sans"/>
                <a:cs typeface="DejaVu Sans"/>
              </a:rPr>
              <a:t>Previous memory</a:t>
            </a:r>
          </a:p>
          <a:p xmlns:a="http://schemas.openxmlformats.org/drawingml/2006/main">
            <a:pPr algn="ctr">
              <a:defRPr sz="1875">
                <a:solidFill>
                  <a:srgbClr val="7653C7"/>
                </a:solidFill>
                <a:latin typeface="DejaVu Sans"/>
                <a:ea typeface="DejaVu Sans"/>
                <a:cs typeface="DejaVu Sans"/>
              </a:defRPr>
            </a:pPr>
            <a:r>
              <a:rPr sz="1875">
                <a:solidFill>
                  <a:srgbClr val="7653C7"/>
                </a:solidFill>
                <a:latin typeface="DejaVu Sans"/>
                <a:ea typeface="DejaVu Sans"/>
                <a:cs typeface="DejaVu Sans"/>
              </a:rPr>
              <a:t>hₜ₋₁</a:t>
            </a:r>
          </a:p>
        </p:txBody>
      </p:sp>
      <p:sp>
        <p:nvSpPr>
          <p:cNvPr id="5" name="">
            <a:extLst xmlns:a="http://schemas.openxmlformats.org/drawingml/2006/main">
              <a:ext uri="{FF2B5EF4-FFF2-40B4-BE49-F238E27FC236}">
                <a16:creationId xmlns:a16="http://schemas.microsoft.com/office/drawing/2014/main" id="{94FB1BFA-6804-4DB5-8368-C52A4D3526DC}"/>
              </a:ext>
            </a:extLst>
          </p:cNvPr>
          <p:cNvSpPr>
            <a:spLocks xmlns:a="http://schemas.openxmlformats.org/drawingml/2006/main" noGrp="1"/>
          </p:cNvSpPr>
          <p:nvPr/>
        </p:nvSpPr>
        <p:spPr>
          <a:xfrm xmlns:a="http://schemas.openxmlformats.org/drawingml/2006/main">
            <a:off x="3971925" y="2647950"/>
            <a:ext cx="2333625" cy="1047750"/>
          </a:xfrm>
          <a:prstGeom xmlns:a="http://schemas.openxmlformats.org/drawingml/2006/main" prst="roundRect">
            <a:avLst>
              <a:gd name="adj" fmla="val 7273"/>
            </a:avLst>
          </a:prstGeom>
          <a:solidFill xmlns:a="http://schemas.openxmlformats.org/drawingml/2006/main">
            <a:srgbClr val="F0EAFA"/>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a:solidFill>
                  <a:srgbClr val="7653C7"/>
                </a:solidFill>
                <a:latin typeface="DejaVu Sans"/>
                <a:ea typeface="DejaVu Sans"/>
                <a:cs typeface="DejaVu Sans"/>
              </a:defRPr>
            </a:pPr>
            <a:r>
              <a:rPr sz="2025">
                <a:solidFill>
                  <a:srgbClr val="7653C7"/>
                </a:solidFill>
                <a:latin typeface="DejaVu Sans"/>
                <a:ea typeface="DejaVu Sans"/>
                <a:cs typeface="DejaVu Sans"/>
              </a:rPr>
              <a:t>Weighted sum</a:t>
            </a:r>
          </a:p>
          <a:p xmlns:a="http://schemas.openxmlformats.org/drawingml/2006/main">
            <a:pPr algn="ctr">
              <a:defRPr sz="2025">
                <a:solidFill>
                  <a:srgbClr val="7653C7"/>
                </a:solidFill>
                <a:latin typeface="DejaVu Sans"/>
                <a:ea typeface="DejaVu Sans"/>
                <a:cs typeface="DejaVu Sans"/>
              </a:defRPr>
            </a:pPr>
            <a:r>
              <a:rPr sz="2025">
                <a:solidFill>
                  <a:srgbClr val="7653C7"/>
                </a:solidFill>
                <a:latin typeface="DejaVu Sans"/>
                <a:ea typeface="DejaVu Sans"/>
                <a:cs typeface="DejaVu Sans"/>
              </a:rPr>
              <a:t>then tanh</a:t>
            </a:r>
          </a:p>
        </p:txBody>
      </p:sp>
      <p:sp>
        <p:nvSpPr>
          <p:cNvPr id="6" name="">
            <a:extLst xmlns:a="http://schemas.openxmlformats.org/drawingml/2006/main">
              <a:ext uri="{FF2B5EF4-FFF2-40B4-BE49-F238E27FC236}">
                <a16:creationId xmlns:a16="http://schemas.microsoft.com/office/drawing/2014/main" id="{1E08C6D6-1757-4907-B9BE-224AC84F0A74}"/>
              </a:ext>
            </a:extLst>
          </p:cNvPr>
          <p:cNvSpPr>
            <a:spLocks xmlns:a="http://schemas.openxmlformats.org/drawingml/2006/main" noGrp="1"/>
          </p:cNvSpPr>
          <p:nvPr/>
        </p:nvSpPr>
        <p:spPr>
          <a:xfrm xmlns:a="http://schemas.openxmlformats.org/drawingml/2006/main">
            <a:off x="7219950" y="2647950"/>
            <a:ext cx="1581150" cy="1047750"/>
          </a:xfrm>
          <a:prstGeom xmlns:a="http://schemas.openxmlformats.org/drawingml/2006/main" prst="roundRect">
            <a:avLst>
              <a:gd name="adj" fmla="val 7273"/>
            </a:avLst>
          </a:prstGeom>
          <a:solidFill xmlns:a="http://schemas.openxmlformats.org/drawingml/2006/main">
            <a:srgbClr val="F0EAFA"/>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950">
                <a:solidFill>
                  <a:srgbClr val="7653C7"/>
                </a:solidFill>
                <a:latin typeface="DejaVu Sans"/>
                <a:ea typeface="DejaVu Sans"/>
                <a:cs typeface="DejaVu Sans"/>
              </a:defRPr>
            </a:pPr>
            <a:r>
              <a:rPr sz="1950">
                <a:solidFill>
                  <a:srgbClr val="7653C7"/>
                </a:solidFill>
                <a:latin typeface="DejaVu Sans"/>
                <a:ea typeface="DejaVu Sans"/>
                <a:cs typeface="DejaVu Sans"/>
              </a:rPr>
              <a:t>Hidden state</a:t>
            </a:r>
          </a:p>
          <a:p xmlns:a="http://schemas.openxmlformats.org/drawingml/2006/main">
            <a:pPr algn="ctr">
              <a:defRPr sz="1950">
                <a:solidFill>
                  <a:srgbClr val="7653C7"/>
                </a:solidFill>
                <a:latin typeface="DejaVu Sans"/>
                <a:ea typeface="DejaVu Sans"/>
                <a:cs typeface="DejaVu Sans"/>
              </a:defRPr>
            </a:pPr>
            <a:r>
              <a:rPr sz="1950">
                <a:solidFill>
                  <a:srgbClr val="7653C7"/>
                </a:solidFill>
                <a:latin typeface="DejaVu Sans"/>
                <a:ea typeface="DejaVu Sans"/>
                <a:cs typeface="DejaVu Sans"/>
              </a:rPr>
              <a:t>hₜ</a:t>
            </a:r>
          </a:p>
        </p:txBody>
      </p:sp>
      <p:sp>
        <p:nvSpPr>
          <p:cNvPr id="7" name="">
            <a:extLst xmlns:a="http://schemas.openxmlformats.org/drawingml/2006/main">
              <a:ext uri="{FF2B5EF4-FFF2-40B4-BE49-F238E27FC236}">
                <a16:creationId xmlns:a16="http://schemas.microsoft.com/office/drawing/2014/main" id="{FD140012-DB11-42FD-9C98-32C41C1AD498}"/>
              </a:ext>
            </a:extLst>
          </p:cNvPr>
          <p:cNvSpPr>
            <a:spLocks xmlns:a="http://schemas.openxmlformats.org/drawingml/2006/main" noGrp="1"/>
          </p:cNvSpPr>
          <p:nvPr/>
        </p:nvSpPr>
        <p:spPr>
          <a:xfrm xmlns:a="http://schemas.openxmlformats.org/drawingml/2006/main">
            <a:off x="9810750" y="2647950"/>
            <a:ext cx="1866900" cy="1047750"/>
          </a:xfrm>
          <a:prstGeom xmlns:a="http://schemas.openxmlformats.org/drawingml/2006/main" prst="roundRect">
            <a:avLst>
              <a:gd name="adj" fmla="val 7273"/>
            </a:avLst>
          </a:prstGeom>
          <a:solidFill xmlns:a="http://schemas.openxmlformats.org/drawingml/2006/main">
            <a:srgbClr val="EAF6EF"/>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28845B"/>
                </a:solidFill>
                <a:latin typeface="DejaVu Sans"/>
                <a:ea typeface="DejaVu Sans"/>
                <a:cs typeface="DejaVu Sans"/>
              </a:defRPr>
            </a:pPr>
            <a:r>
              <a:rPr sz="1875">
                <a:solidFill>
                  <a:srgbClr val="28845B"/>
                </a:solidFill>
                <a:latin typeface="DejaVu Sans"/>
                <a:ea typeface="DejaVu Sans"/>
                <a:cs typeface="DejaVu Sans"/>
              </a:rPr>
              <a:t>Output head</a:t>
            </a:r>
          </a:p>
          <a:p xmlns:a="http://schemas.openxmlformats.org/drawingml/2006/main">
            <a:pPr algn="ctr">
              <a:defRPr sz="1875">
                <a:solidFill>
                  <a:srgbClr val="28845B"/>
                </a:solidFill>
                <a:latin typeface="DejaVu Sans"/>
                <a:ea typeface="DejaVu Sans"/>
                <a:cs typeface="DejaVu Sans"/>
              </a:defRPr>
            </a:pPr>
            <a:r>
              <a:rPr sz="1875">
                <a:solidFill>
                  <a:srgbClr val="28845B"/>
                </a:solidFill>
                <a:latin typeface="DejaVu Sans"/>
                <a:ea typeface="DejaVu Sans"/>
                <a:cs typeface="DejaVu Sans"/>
              </a:rPr>
              <a:t>weights + g</a:t>
            </a:r>
          </a:p>
        </p:txBody>
      </p:sp>
      <p:sp>
        <p:nvSpPr>
          <p:cNvPr id="8" name="">
            <a:extLst xmlns:a="http://schemas.openxmlformats.org/drawingml/2006/main">
              <a:ext uri="{FF2B5EF4-FFF2-40B4-BE49-F238E27FC236}">
                <a16:creationId xmlns:a16="http://schemas.microsoft.com/office/drawing/2014/main" id="{62171D07-45F1-441B-A9CF-F9E960C8F37F}"/>
              </a:ext>
            </a:extLst>
          </p:cNvPr>
          <p:cNvSpPr>
            <a:spLocks xmlns:a="http://schemas.openxmlformats.org/drawingml/2006/main" noGrp="1"/>
          </p:cNvSpPr>
          <p:nvPr/>
        </p:nvSpPr>
        <p:spPr>
          <a:xfrm xmlns:a="http://schemas.openxmlformats.org/drawingml/2006/main">
            <a:off x="6848475" y="4438650"/>
            <a:ext cx="2333625" cy="704850"/>
          </a:xfrm>
          <a:prstGeom xmlns:a="http://schemas.openxmlformats.org/drawingml/2006/main" prst="roundRect">
            <a:avLst>
              <a:gd name="adj" fmla="val 10811"/>
            </a:avLst>
          </a:prstGeom>
          <a:solidFill xmlns:a="http://schemas.openxmlformats.org/drawingml/2006/main">
            <a:srgbClr val="F0EAFA"/>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7653C7"/>
                </a:solidFill>
                <a:latin typeface="DejaVu Sans"/>
                <a:ea typeface="DejaVu Sans"/>
                <a:cs typeface="DejaVu Sans"/>
              </a:defRPr>
            </a:pPr>
            <a:r>
              <a:rPr sz="1875">
                <a:solidFill>
                  <a:srgbClr val="7653C7"/>
                </a:solidFill>
                <a:latin typeface="DejaVu Sans"/>
                <a:ea typeface="DejaVu Sans"/>
                <a:cs typeface="DejaVu Sans"/>
              </a:rPr>
              <a:t>Memory for</a:t>
            </a:r>
          </a:p>
          <a:p xmlns:a="http://schemas.openxmlformats.org/drawingml/2006/main">
            <a:pPr algn="ctr">
              <a:defRPr sz="1875">
                <a:solidFill>
                  <a:srgbClr val="7653C7"/>
                </a:solidFill>
                <a:latin typeface="DejaVu Sans"/>
                <a:ea typeface="DejaVu Sans"/>
                <a:cs typeface="DejaVu Sans"/>
              </a:defRPr>
            </a:pPr>
            <a:r>
              <a:rPr sz="1875">
                <a:solidFill>
                  <a:srgbClr val="7653C7"/>
                </a:solidFill>
                <a:latin typeface="DejaVu Sans"/>
                <a:ea typeface="DejaVu Sans"/>
                <a:cs typeface="DejaVu Sans"/>
              </a:rPr>
              <a:t>the next step</a:t>
            </a:r>
          </a:p>
        </p:txBody>
      </p:sp>
      <p:sp>
        <p:nvSpPr>
          <p:cNvPr id="9" name="">
            <a:extLst xmlns:a="http://schemas.openxmlformats.org/drawingml/2006/main">
              <a:ext uri="{FF2B5EF4-FFF2-40B4-BE49-F238E27FC236}">
                <a16:creationId xmlns:a16="http://schemas.microsoft.com/office/drawing/2014/main" id="{0AED18AF-E3AA-4A14-898C-561D7C309833}"/>
              </a:ext>
            </a:extLst>
          </p:cNvPr>
          <p:cNvSpPr>
            <a:spLocks xmlns:a="http://schemas.openxmlformats.org/drawingml/2006/main" noGrp="1"/>
          </p:cNvSpPr>
          <p:nvPr/>
        </p:nvSpPr>
        <p:spPr>
          <a:xfrm xmlns:a="http://schemas.openxmlformats.org/drawingml/2006/main">
            <a:off x="9810750" y="4438650"/>
            <a:ext cx="1866900" cy="704850"/>
          </a:xfrm>
          <a:prstGeom xmlns:a="http://schemas.openxmlformats.org/drawingml/2006/main" prst="roundRect">
            <a:avLst>
              <a:gd name="adj" fmla="val 10811"/>
            </a:avLst>
          </a:prstGeom>
          <a:solidFill xmlns:a="http://schemas.openxmlformats.org/drawingml/2006/main">
            <a:srgbClr val="EAF6EF"/>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28845B"/>
                </a:solidFill>
                <a:latin typeface="DejaVu Sans"/>
                <a:ea typeface="DejaVu Sans"/>
                <a:cs typeface="DejaVu Sans"/>
              </a:defRPr>
            </a:pPr>
            <a:r>
              <a:rPr sz="1875">
                <a:solidFill>
                  <a:srgbClr val="28845B"/>
                </a:solidFill>
                <a:latin typeface="DejaVu Sans"/>
                <a:ea typeface="DejaVu Sans"/>
                <a:cs typeface="DejaVu Sans"/>
              </a:rPr>
              <a:t>Prediction ŷₜ</a:t>
            </a:r>
          </a:p>
        </p:txBody>
      </p:sp>
      <p:cxnSp>
        <p:nvCxnSpPr>
          <p:cNvPr id="31" name=""/>
          <p:cNvCxnSpPr>
            <a:stCxn xmlns:a="http://schemas.openxmlformats.org/drawingml/2006/main" id="3" idx="3"/>
            <a:endCxn xmlns:a="http://schemas.openxmlformats.org/drawingml/2006/main" id="5" idx="1"/>
          </p:cNvCxnSpPr>
          <p:nvPr/>
        </p:nvCxnSpPr>
        <p:spPr>
          <a:xfrm xmlns:a="http://schemas.openxmlformats.org/drawingml/2006/main">
            <a:off x="2162175" y="3095625"/>
            <a:ext cx="1809750" cy="76200"/>
          </a:xfrm>
          <a:prstGeom xmlns:a="http://schemas.openxmlformats.org/drawingml/2006/main" prst="straightConnector1">
            <a:avLst/>
          </a:prstGeom>
          <a:ln xmlns:a="http://schemas.openxmlformats.org/drawingml/2006/main" w="28575">
            <a:solidFill>
              <a:srgbClr val="2479B9"/>
            </a:solidFill>
            <a:tailEnd type="triangle" w="sm" len="sm"/>
          </a:ln>
        </p:spPr>
      </p:cxnSp>
      <p:cxnSp>
        <p:nvCxnSpPr>
          <p:cNvPr id="32" name=""/>
          <p:cNvCxnSpPr>
            <a:stCxn xmlns:a="http://schemas.openxmlformats.org/drawingml/2006/main" id="4" idx="2"/>
            <a:endCxn xmlns:a="http://schemas.openxmlformats.org/drawingml/2006/main" id="5" idx="0"/>
          </p:cNvCxnSpPr>
          <p:nvPr/>
        </p:nvCxnSpPr>
        <p:spPr>
          <a:xfrm xmlns:a="http://schemas.openxmlformats.org/drawingml/2006/main">
            <a:off x="5138738" y="2257425"/>
            <a:ext cx="0" cy="390525"/>
          </a:xfrm>
          <a:prstGeom xmlns:a="http://schemas.openxmlformats.org/drawingml/2006/main" prst="straightConnector1">
            <a:avLst/>
          </a:prstGeom>
          <a:ln xmlns:a="http://schemas.openxmlformats.org/drawingml/2006/main" w="28575">
            <a:solidFill>
              <a:srgbClr val="7653C7"/>
            </a:solidFill>
            <a:tailEnd type="triangle" w="sm" len="sm"/>
          </a:ln>
        </p:spPr>
      </p:cxnSp>
      <p:cxnSp>
        <p:nvCxnSpPr>
          <p:cNvPr id="33" name=""/>
          <p:cNvCxnSpPr>
            <a:stCxn xmlns:a="http://schemas.openxmlformats.org/drawingml/2006/main" id="5" idx="3"/>
            <a:endCxn xmlns:a="http://schemas.openxmlformats.org/drawingml/2006/main" id="6" idx="1"/>
          </p:cNvCxnSpPr>
          <p:nvPr/>
        </p:nvCxnSpPr>
        <p:spPr>
          <a:xfrm xmlns:a="http://schemas.openxmlformats.org/drawingml/2006/main">
            <a:off x="6305550" y="3171825"/>
            <a:ext cx="914400" cy="0"/>
          </a:xfrm>
          <a:prstGeom xmlns:a="http://schemas.openxmlformats.org/drawingml/2006/main" prst="straightConnector1">
            <a:avLst/>
          </a:prstGeom>
          <a:ln xmlns:a="http://schemas.openxmlformats.org/drawingml/2006/main" w="28575">
            <a:solidFill>
              <a:srgbClr val="7653C7"/>
            </a:solidFill>
            <a:tailEnd type="triangle" w="sm" len="sm"/>
          </a:ln>
        </p:spPr>
      </p:cxnSp>
      <p:cxnSp>
        <p:nvCxnSpPr>
          <p:cNvPr id="34" name=""/>
          <p:cNvCxnSpPr>
            <a:stCxn xmlns:a="http://schemas.openxmlformats.org/drawingml/2006/main" id="6" idx="3"/>
            <a:endCxn xmlns:a="http://schemas.openxmlformats.org/drawingml/2006/main" id="7" idx="1"/>
          </p:cNvCxnSpPr>
          <p:nvPr/>
        </p:nvCxnSpPr>
        <p:spPr>
          <a:xfrm xmlns:a="http://schemas.openxmlformats.org/drawingml/2006/main">
            <a:off x="8801100" y="3171825"/>
            <a:ext cx="1009650" cy="0"/>
          </a:xfrm>
          <a:prstGeom xmlns:a="http://schemas.openxmlformats.org/drawingml/2006/main" prst="straightConnector1">
            <a:avLst/>
          </a:prstGeom>
          <a:ln xmlns:a="http://schemas.openxmlformats.org/drawingml/2006/main" w="28575">
            <a:solidFill>
              <a:srgbClr val="28845B"/>
            </a:solidFill>
            <a:tailEnd type="triangle" w="sm" len="sm"/>
          </a:ln>
        </p:spPr>
      </p:cxnSp>
      <p:cxnSp>
        <p:nvCxnSpPr>
          <p:cNvPr id="35" name=""/>
          <p:cNvCxnSpPr>
            <a:stCxn xmlns:a="http://schemas.openxmlformats.org/drawingml/2006/main" id="6" idx="2"/>
            <a:endCxn xmlns:a="http://schemas.openxmlformats.org/drawingml/2006/main" id="8" idx="0"/>
          </p:cNvCxnSpPr>
          <p:nvPr/>
        </p:nvCxnSpPr>
        <p:spPr>
          <a:xfrm xmlns:a="http://schemas.openxmlformats.org/drawingml/2006/main">
            <a:off x="8010525" y="3695700"/>
            <a:ext cx="4763" cy="742950"/>
          </a:xfrm>
          <a:prstGeom xmlns:a="http://schemas.openxmlformats.org/drawingml/2006/main" prst="straightConnector1">
            <a:avLst/>
          </a:prstGeom>
          <a:ln xmlns:a="http://schemas.openxmlformats.org/drawingml/2006/main" w="28575">
            <a:solidFill>
              <a:srgbClr val="7653C7"/>
            </a:solidFill>
            <a:tailEnd type="triangle" w="sm" len="sm"/>
          </a:ln>
        </p:spPr>
      </p:cxnSp>
      <p:cxnSp>
        <p:nvCxnSpPr>
          <p:cNvPr id="36" name=""/>
          <p:cNvCxnSpPr>
            <a:stCxn xmlns:a="http://schemas.openxmlformats.org/drawingml/2006/main" id="7" idx="2"/>
            <a:endCxn xmlns:a="http://schemas.openxmlformats.org/drawingml/2006/main" id="9" idx="0"/>
          </p:cNvCxnSpPr>
          <p:nvPr/>
        </p:nvCxnSpPr>
        <p:spPr>
          <a:xfrm xmlns:a="http://schemas.openxmlformats.org/drawingml/2006/main">
            <a:off x="10744200" y="3695700"/>
            <a:ext cx="0" cy="742950"/>
          </a:xfrm>
          <a:prstGeom xmlns:a="http://schemas.openxmlformats.org/drawingml/2006/main" prst="straightConnector1">
            <a:avLst/>
          </a:prstGeom>
          <a:ln xmlns:a="http://schemas.openxmlformats.org/drawingml/2006/main" w="28575">
            <a:solidFill>
              <a:srgbClr val="28845B"/>
            </a:solidFill>
            <a:tailEnd type="triangle" w="sm" len="sm"/>
          </a:ln>
        </p:spPr>
      </p:cxnSp>
      <p:sp>
        <p:nvSpPr>
          <p:cNvPr id="16" name="">
            <a:extLst xmlns:a="http://schemas.openxmlformats.org/drawingml/2006/main">
              <a:ext uri="{FF2B5EF4-FFF2-40B4-BE49-F238E27FC236}">
                <a16:creationId xmlns:a16="http://schemas.microsoft.com/office/drawing/2014/main" id="{9C38F1FB-EC93-40E6-A171-98307F6EB03B}"/>
              </a:ext>
            </a:extLst>
          </p:cNvPr>
          <p:cNvSpPr>
            <a:spLocks xmlns:a="http://schemas.openxmlformats.org/drawingml/2006/main" noGrp="1"/>
          </p:cNvSpPr>
          <p:nvPr/>
        </p:nvSpPr>
        <p:spPr>
          <a:xfrm xmlns:a="http://schemas.openxmlformats.org/drawingml/2006/main">
            <a:off x="2276475" y="2409825"/>
            <a:ext cx="16097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0">
                <a:solidFill>
                  <a:srgbClr val="2479B9"/>
                </a:solidFill>
                <a:latin typeface="DejaVu Sans"/>
                <a:ea typeface="DejaVu Sans"/>
                <a:cs typeface="DejaVu Sans"/>
              </a:defRPr>
            </a:pPr>
            <a:r>
              <a:rPr sz="1500" b="0">
                <a:solidFill>
                  <a:srgbClr val="2479B9"/>
                </a:solidFill>
                <a:latin typeface="DejaVu Sans"/>
                <a:ea typeface="DejaVu Sans"/>
                <a:cs typeface="DejaVu Sans"/>
              </a:rPr>
              <a:t>× input weight</a:t>
            </a:r>
          </a:p>
        </p:txBody>
      </p:sp>
      <p:sp>
        <p:nvSpPr>
          <p:cNvPr id="17" name="">
            <a:extLst xmlns:a="http://schemas.openxmlformats.org/drawingml/2006/main">
              <a:ext uri="{FF2B5EF4-FFF2-40B4-BE49-F238E27FC236}">
                <a16:creationId xmlns:a16="http://schemas.microsoft.com/office/drawing/2014/main" id="{DD706CBF-D8C3-416E-894B-9F5D7D7A2EC4}"/>
              </a:ext>
            </a:extLst>
          </p:cNvPr>
          <p:cNvSpPr>
            <a:spLocks xmlns:a="http://schemas.openxmlformats.org/drawingml/2006/main" noGrp="1"/>
          </p:cNvSpPr>
          <p:nvPr/>
        </p:nvSpPr>
        <p:spPr>
          <a:xfrm xmlns:a="http://schemas.openxmlformats.org/drawingml/2006/main">
            <a:off x="5219700" y="2276475"/>
            <a:ext cx="2524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7653C7"/>
                </a:solidFill>
                <a:latin typeface="DejaVu Sans"/>
                <a:ea typeface="DejaVu Sans"/>
                <a:cs typeface="DejaVu Sans"/>
              </a:defRPr>
            </a:pPr>
            <a:r>
              <a:rPr sz="1500" b="0">
                <a:solidFill>
                  <a:srgbClr val="7653C7"/>
                </a:solidFill>
                <a:latin typeface="DejaVu Sans"/>
                <a:ea typeface="DejaVu Sans"/>
                <a:cs typeface="DejaVu Sans"/>
              </a:rPr>
              <a:t>× recurrent weight</a:t>
            </a:r>
          </a:p>
        </p:txBody>
      </p:sp>
      <p:sp>
        <p:nvSpPr>
          <p:cNvPr id="18" name="">
            <a:extLst xmlns:a="http://schemas.openxmlformats.org/drawingml/2006/main">
              <a:ext uri="{FF2B5EF4-FFF2-40B4-BE49-F238E27FC236}">
                <a16:creationId xmlns:a16="http://schemas.microsoft.com/office/drawing/2014/main" id="{19CE9A56-B827-4E7A-A3CB-9A369D6668C7}"/>
              </a:ext>
            </a:extLst>
          </p:cNvPr>
          <p:cNvSpPr>
            <a:spLocks xmlns:a="http://schemas.openxmlformats.org/drawingml/2006/main" noGrp="1"/>
          </p:cNvSpPr>
          <p:nvPr/>
        </p:nvSpPr>
        <p:spPr>
          <a:xfrm xmlns:a="http://schemas.openxmlformats.org/drawingml/2006/main">
            <a:off x="5143500" y="3781425"/>
            <a:ext cx="2619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7653C7"/>
                </a:solidFill>
                <a:latin typeface="DejaVu Sans"/>
                <a:ea typeface="DejaVu Sans"/>
                <a:cs typeface="DejaVu Sans"/>
              </a:defRPr>
            </a:pPr>
            <a:r>
              <a:rPr sz="1575" b="1">
                <a:solidFill>
                  <a:srgbClr val="7653C7"/>
                </a:solidFill>
                <a:latin typeface="DejaVu Sans"/>
                <a:ea typeface="DejaVu Sans"/>
                <a:cs typeface="DejaVu Sans"/>
              </a:rPr>
              <a:t>Same hₜ,</a:t>
            </a:r>
          </a:p>
          <a:p xmlns:a="http://schemas.openxmlformats.org/drawingml/2006/main">
            <a:pPr algn="ctr">
              <a:defRPr sz="1575" b="1">
                <a:solidFill>
                  <a:srgbClr val="7653C7"/>
                </a:solidFill>
                <a:latin typeface="DejaVu Sans"/>
                <a:ea typeface="DejaVu Sans"/>
                <a:cs typeface="DejaVu Sans"/>
              </a:defRPr>
            </a:pPr>
            <a:r>
              <a:rPr sz="1575" b="1">
                <a:solidFill>
                  <a:srgbClr val="7653C7"/>
                </a:solidFill>
                <a:latin typeface="DejaVu Sans"/>
                <a:ea typeface="DejaVu Sans"/>
                <a:cs typeface="DejaVu Sans"/>
              </a:rPr>
              <a:t>carried forward</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90bb976fea07401d"/>
          <a:stretch xmlns:a="http://schemas.openxmlformats.org/drawingml/2006/main"/>
        </p:blipFill>
        <p:spPr>
          <a:xfrm xmlns:a="http://schemas.openxmlformats.org/drawingml/2006/main">
            <a:off x="598954" y="5324475"/>
            <a:ext cx="11013141" cy="8001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AF1675F4-892E-4E89-9582-2F2FADC3194D}"/>
              </a:ext>
            </a:extLst>
          </p:cNvPr>
          <p:cNvSpPr>
            <a:spLocks xmlns:a="http://schemas.openxmlformats.org/drawingml/2006/main" noGrp="1"/>
          </p:cNvSpPr>
          <p:nvPr/>
        </p:nvSpPr>
        <p:spPr>
          <a:xfrm xmlns:a="http://schemas.openxmlformats.org/drawingml/2006/main">
            <a:off x="400050" y="6229350"/>
            <a:ext cx="11391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27A"/>
                </a:solidFill>
                <a:latin typeface="DejaVu Sans"/>
                <a:ea typeface="DejaVu Sans"/>
                <a:cs typeface="DejaVu Sans"/>
              </a:defRPr>
            </a:pPr>
            <a:r>
              <a:rPr sz="1500" b="0">
                <a:solidFill>
                  <a:srgbClr val="52627A"/>
                </a:solidFill>
                <a:latin typeface="DejaVu Sans"/>
                <a:ea typeface="DejaVu Sans"/>
                <a:cs typeface="DejaVu Sans"/>
              </a:rPr>
              <a:t>hₜ is the cell’s output and stored memory. The head’s prediction ŷₜ is a separate quantity.</a:t>
            </a:r>
          </a:p>
        </p:txBody>
      </p:sp>
      <p:sp>
        <p:nvSpPr>
          <p:cNvPr id="21" name="">
            <a:extLst xmlns:a="http://schemas.openxmlformats.org/drawingml/2006/main">
              <a:ext uri="{FF2B5EF4-FFF2-40B4-BE49-F238E27FC236}">
                <a16:creationId xmlns:a16="http://schemas.microsoft.com/office/drawing/2014/main" id="{83F9FFE7-CAE4-4AE1-8D3F-EEAE7A9D09F7}"/>
              </a:ext>
            </a:extLst>
          </p:cNvPr>
          <p:cNvSpPr>
            <a:spLocks xmlns:a="http://schemas.openxmlformats.org/drawingml/2006/main" noGrp="1"/>
          </p:cNvSpPr>
          <p:nvPr/>
        </p:nvSpPr>
        <p:spPr>
          <a:xfrm xmlns:a="http://schemas.openxmlformats.org/drawingml/2006/main">
            <a:off x="11144250" y="65627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a:solidFill>
                  <a:srgbClr val="52627A"/>
                </a:solidFill>
                <a:latin typeface="DejaVu Sans"/>
                <a:ea typeface="DejaVu Sans"/>
                <a:cs typeface="DejaVu Sans"/>
              </a:defRPr>
            </a:pPr>
            <a:r>
              <a:rPr sz="975" b="0">
                <a:solidFill>
                  <a:srgbClr val="52627A"/>
                </a:solidFill>
                <a:latin typeface="DejaVu Sans"/>
                <a:ea typeface="DejaVu Sans"/>
                <a:cs typeface="DejaVu Sans"/>
              </a:rPr>
              <a:t>11</a:t>
            </a:r>
          </a:p>
        </p:txBody>
      </p:sp>
    </p:spTree>
    <p:extLst>
      <p:ext uri="{BB962C8B-B14F-4D97-AF65-F5344CB8AC3E}">
        <p14:creationId xmlns:p14="http://schemas.microsoft.com/office/powerpoint/2010/main" val="1030263354"/>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9F1ED29-2324-4EA9-90DC-EBE423AE11D8}"/>
              </a:ext>
            </a:extLst>
          </p:cNvPr>
          <p:cNvSpPr>
            <a:spLocks xmlns:a="http://schemas.openxmlformats.org/drawingml/2006/main" noGrp="1"/>
          </p:cNvSpPr>
          <p:nvPr/>
        </p:nvSpPr>
        <p:spPr>
          <a:xfrm xmlns:a="http://schemas.openxmlformats.org/drawingml/2006/main">
            <a:off x="400050" y="257175"/>
            <a:ext cx="113919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72B4D"/>
                </a:solidFill>
                <a:latin typeface="DejaVu Sans"/>
                <a:ea typeface="DejaVu Sans"/>
                <a:cs typeface="DejaVu Sans"/>
              </a:defRPr>
            </a:pPr>
            <a:r>
              <a:rPr sz="3000" b="1">
                <a:solidFill>
                  <a:srgbClr val="172B4D"/>
                </a:solidFill>
                <a:latin typeface="DejaVu Sans"/>
                <a:ea typeface="DejaVu Sans"/>
                <a:cs typeface="DejaVu Sans"/>
              </a:rPr>
              <a:t>What comes next in a deep learning course?</a:t>
            </a:r>
          </a:p>
        </p:txBody>
      </p:sp>
      <p:sp>
        <p:nvSpPr>
          <p:cNvPr id="2" name="">
            <a:extLst xmlns:a="http://schemas.openxmlformats.org/drawingml/2006/main">
              <a:ext uri="{FF2B5EF4-FFF2-40B4-BE49-F238E27FC236}">
                <a16:creationId xmlns:a16="http://schemas.microsoft.com/office/drawing/2014/main" id="{235DB24C-7924-4830-99BC-7469B6E76D7A}"/>
              </a:ext>
            </a:extLst>
          </p:cNvPr>
          <p:cNvSpPr>
            <a:spLocks xmlns:a="http://schemas.openxmlformats.org/drawingml/2006/main" noGrp="1"/>
          </p:cNvSpPr>
          <p:nvPr/>
        </p:nvSpPr>
        <p:spPr>
          <a:xfrm xmlns:a="http://schemas.openxmlformats.org/drawingml/2006/main">
            <a:off x="400050" y="942975"/>
            <a:ext cx="113919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52627A"/>
                </a:solidFill>
                <a:latin typeface="DejaVu Sans"/>
                <a:ea typeface="DejaVu Sans"/>
                <a:cs typeface="DejaVu Sans"/>
              </a:defRPr>
            </a:pPr>
            <a:r>
              <a:rPr sz="1725" b="0">
                <a:solidFill>
                  <a:srgbClr val="52627A"/>
                </a:solidFill>
                <a:latin typeface="DejaVu Sans"/>
                <a:ea typeface="DejaVu Sans"/>
                <a:cs typeface="DejaVu Sans"/>
              </a:rPr>
              <a:t>Neural networks extend this idea to many weights and biases across layers.</a:t>
            </a:r>
          </a:p>
        </p:txBody>
      </p:sp>
      <p:sp>
        <p:nvSpPr>
          <p:cNvPr id="3" name="">
            <a:extLst xmlns:a="http://schemas.openxmlformats.org/drawingml/2006/main">
              <a:ext uri="{FF2B5EF4-FFF2-40B4-BE49-F238E27FC236}">
                <a16:creationId xmlns:a16="http://schemas.microsoft.com/office/drawing/2014/main" id="{FD6451BC-EADE-45A5-8205-F525301CAA20}"/>
              </a:ext>
            </a:extLst>
          </p:cNvPr>
          <p:cNvSpPr>
            <a:spLocks xmlns:a="http://schemas.openxmlformats.org/drawingml/2006/main" noGrp="1"/>
          </p:cNvSpPr>
          <p:nvPr/>
        </p:nvSpPr>
        <p:spPr>
          <a:xfrm xmlns:a="http://schemas.openxmlformats.org/drawingml/2006/main">
            <a:off x="590550" y="1704975"/>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7653C7"/>
                </a:solidFill>
                <a:latin typeface="DejaVu Sans"/>
                <a:ea typeface="DejaVu Sans"/>
                <a:cs typeface="DejaVu Sans"/>
              </a:defRPr>
            </a:pPr>
            <a:r>
              <a:rPr sz="2025" b="1">
                <a:solidFill>
                  <a:srgbClr val="7653C7"/>
                </a:solidFill>
                <a:latin typeface="DejaVu Sans"/>
                <a:ea typeface="DejaVu Sans"/>
                <a:cs typeface="DejaVu Sans"/>
              </a:rPr>
              <a:t>Initialization</a:t>
            </a:r>
          </a:p>
        </p:txBody>
      </p:sp>
      <p:sp>
        <p:nvSpPr>
          <p:cNvPr id="4" name="">
            <a:extLst xmlns:a="http://schemas.openxmlformats.org/drawingml/2006/main">
              <a:ext uri="{FF2B5EF4-FFF2-40B4-BE49-F238E27FC236}">
                <a16:creationId xmlns:a16="http://schemas.microsoft.com/office/drawing/2014/main" id="{842D21F2-05DC-443F-A125-6E22EB8C03DF}"/>
              </a:ext>
            </a:extLst>
          </p:cNvPr>
          <p:cNvSpPr>
            <a:spLocks xmlns:a="http://schemas.openxmlformats.org/drawingml/2006/main" noGrp="1"/>
          </p:cNvSpPr>
          <p:nvPr/>
        </p:nvSpPr>
        <p:spPr>
          <a:xfrm xmlns:a="http://schemas.openxmlformats.org/drawingml/2006/main">
            <a:off x="3286125" y="1704975"/>
            <a:ext cx="828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72B4D"/>
                </a:solidFill>
                <a:latin typeface="DejaVu Sans"/>
                <a:ea typeface="DejaVu Sans"/>
                <a:cs typeface="DejaVu Sans"/>
              </a:defRPr>
            </a:pPr>
            <a:r>
              <a:rPr sz="2025" b="0">
                <a:solidFill>
                  <a:srgbClr val="172B4D"/>
                </a:solidFill>
                <a:latin typeface="DejaVu Sans"/>
                <a:ea typeface="DejaVu Sans"/>
                <a:cs typeface="DejaVu Sans"/>
              </a:rPr>
              <a:t>Choose starting weights that help signals and gradients move through the network.</a:t>
            </a:r>
          </a:p>
        </p:txBody>
      </p:sp>
      <p:sp>
        <p:nvSpPr>
          <p:cNvPr id="5" name="">
            <a:extLst xmlns:a="http://schemas.openxmlformats.org/drawingml/2006/main">
              <a:ext uri="{FF2B5EF4-FFF2-40B4-BE49-F238E27FC236}">
                <a16:creationId xmlns:a16="http://schemas.microsoft.com/office/drawing/2014/main" id="{CD4E1D07-FE1E-4FFC-B5C1-F12FF2E583BD}"/>
              </a:ext>
            </a:extLst>
          </p:cNvPr>
          <p:cNvSpPr>
            <a:spLocks xmlns:a="http://schemas.openxmlformats.org/drawingml/2006/main" noGrp="1"/>
          </p:cNvSpPr>
          <p:nvPr/>
        </p:nvSpPr>
        <p:spPr>
          <a:xfrm xmlns:a="http://schemas.openxmlformats.org/drawingml/2006/main">
            <a:off x="590550" y="2981325"/>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7653C7"/>
                </a:solidFill>
                <a:latin typeface="DejaVu Sans"/>
                <a:ea typeface="DejaVu Sans"/>
                <a:cs typeface="DejaVu Sans"/>
              </a:defRPr>
            </a:pPr>
            <a:r>
              <a:rPr sz="2025" b="1">
                <a:solidFill>
                  <a:srgbClr val="7653C7"/>
                </a:solidFill>
                <a:latin typeface="DejaVu Sans"/>
                <a:ea typeface="DejaVu Sans"/>
                <a:cs typeface="DejaVu Sans"/>
              </a:rPr>
              <a:t>Optimization algorithms</a:t>
            </a:r>
          </a:p>
        </p:txBody>
      </p:sp>
      <p:sp>
        <p:nvSpPr>
          <p:cNvPr id="6" name="">
            <a:extLst xmlns:a="http://schemas.openxmlformats.org/drawingml/2006/main">
              <a:ext uri="{FF2B5EF4-FFF2-40B4-BE49-F238E27FC236}">
                <a16:creationId xmlns:a16="http://schemas.microsoft.com/office/drawing/2014/main" id="{61A18B18-65D5-477F-ABC8-0F82181B3459}"/>
              </a:ext>
            </a:extLst>
          </p:cNvPr>
          <p:cNvSpPr>
            <a:spLocks xmlns:a="http://schemas.openxmlformats.org/drawingml/2006/main" noGrp="1"/>
          </p:cNvSpPr>
          <p:nvPr/>
        </p:nvSpPr>
        <p:spPr>
          <a:xfrm xmlns:a="http://schemas.openxmlformats.org/drawingml/2006/main">
            <a:off x="3286125" y="2981325"/>
            <a:ext cx="828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72B4D"/>
                </a:solidFill>
                <a:latin typeface="DejaVu Sans"/>
                <a:ea typeface="DejaVu Sans"/>
                <a:cs typeface="DejaVu Sans"/>
              </a:defRPr>
            </a:pPr>
            <a:r>
              <a:rPr sz="2025" b="0">
                <a:solidFill>
                  <a:srgbClr val="172B4D"/>
                </a:solidFill>
                <a:latin typeface="DejaVu Sans"/>
                <a:ea typeface="DejaVu Sans"/>
                <a:cs typeface="DejaVu Sans"/>
              </a:rPr>
              <a:t>SGD, momentum, and Adam use gradients differently to choose parameter updates.</a:t>
            </a:r>
          </a:p>
        </p:txBody>
      </p:sp>
      <p:sp>
        <p:nvSpPr>
          <p:cNvPr id="7" name="">
            <a:extLst xmlns:a="http://schemas.openxmlformats.org/drawingml/2006/main">
              <a:ext uri="{FF2B5EF4-FFF2-40B4-BE49-F238E27FC236}">
                <a16:creationId xmlns:a16="http://schemas.microsoft.com/office/drawing/2014/main" id="{3A0ADC3E-6583-4CE5-AC5D-D697FDEC43C4}"/>
              </a:ext>
            </a:extLst>
          </p:cNvPr>
          <p:cNvSpPr>
            <a:spLocks xmlns:a="http://schemas.openxmlformats.org/drawingml/2006/main" noGrp="1"/>
          </p:cNvSpPr>
          <p:nvPr/>
        </p:nvSpPr>
        <p:spPr>
          <a:xfrm xmlns:a="http://schemas.openxmlformats.org/drawingml/2006/main">
            <a:off x="590550" y="4257675"/>
            <a:ext cx="2476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7653C7"/>
                </a:solidFill>
                <a:latin typeface="DejaVu Sans"/>
                <a:ea typeface="DejaVu Sans"/>
                <a:cs typeface="DejaVu Sans"/>
              </a:defRPr>
            </a:pPr>
            <a:r>
              <a:rPr sz="2025" b="1">
                <a:solidFill>
                  <a:srgbClr val="7653C7"/>
                </a:solidFill>
                <a:latin typeface="DejaVu Sans"/>
                <a:ea typeface="DejaVu Sans"/>
                <a:cs typeface="DejaVu Sans"/>
              </a:rPr>
              <a:t>Vanishing or exploding gradients</a:t>
            </a:r>
          </a:p>
        </p:txBody>
      </p:sp>
      <p:sp>
        <p:nvSpPr>
          <p:cNvPr id="8" name="">
            <a:extLst xmlns:a="http://schemas.openxmlformats.org/drawingml/2006/main">
              <a:ext uri="{FF2B5EF4-FFF2-40B4-BE49-F238E27FC236}">
                <a16:creationId xmlns:a16="http://schemas.microsoft.com/office/drawing/2014/main" id="{FDABB28A-DFC7-48E9-833B-C568AA4012C5}"/>
              </a:ext>
            </a:extLst>
          </p:cNvPr>
          <p:cNvSpPr>
            <a:spLocks xmlns:a="http://schemas.openxmlformats.org/drawingml/2006/main" noGrp="1"/>
          </p:cNvSpPr>
          <p:nvPr/>
        </p:nvSpPr>
        <p:spPr>
          <a:xfrm xmlns:a="http://schemas.openxmlformats.org/drawingml/2006/main">
            <a:off x="3286125" y="4257675"/>
            <a:ext cx="828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72B4D"/>
                </a:solidFill>
                <a:latin typeface="DejaVu Sans"/>
                <a:ea typeface="DejaVu Sans"/>
                <a:cs typeface="DejaVu Sans"/>
              </a:defRPr>
            </a:pPr>
            <a:r>
              <a:rPr sz="2025" b="0">
                <a:solidFill>
                  <a:srgbClr val="172B4D"/>
                </a:solidFill>
                <a:latin typeface="DejaVu Sans"/>
                <a:ea typeface="DejaVu Sans"/>
                <a:cs typeface="DejaVu Sans"/>
              </a:rPr>
              <a:t>Across many layers or RNN time steps, gradients can shrink or grow too much.</a:t>
            </a:r>
          </a:p>
        </p:txBody>
      </p:sp>
      <p:sp>
        <p:nvSpPr>
          <p:cNvPr id="9" name="">
            <a:extLst xmlns:a="http://schemas.openxmlformats.org/drawingml/2006/main">
              <a:ext uri="{FF2B5EF4-FFF2-40B4-BE49-F238E27FC236}">
                <a16:creationId xmlns:a16="http://schemas.microsoft.com/office/drawing/2014/main" id="{3F88A25F-603F-4909-B7C5-B35C9A395063}"/>
              </a:ext>
            </a:extLst>
          </p:cNvPr>
          <p:cNvSpPr>
            <a:spLocks xmlns:a="http://schemas.openxmlformats.org/drawingml/2006/main" noGrp="1"/>
          </p:cNvSpPr>
          <p:nvPr/>
        </p:nvSpPr>
        <p:spPr>
          <a:xfrm xmlns:a="http://schemas.openxmlformats.org/drawingml/2006/main">
            <a:off x="400050" y="6229350"/>
            <a:ext cx="11391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27A"/>
                </a:solidFill>
                <a:latin typeface="DejaVu Sans"/>
                <a:ea typeface="DejaVu Sans"/>
                <a:cs typeface="DejaVu Sans"/>
              </a:defRPr>
            </a:pPr>
            <a:r>
              <a:rPr sz="1500" b="0">
                <a:solidFill>
                  <a:srgbClr val="52627A"/>
                </a:solidFill>
                <a:latin typeface="DejaVu Sans"/>
                <a:ea typeface="DejaVu Sans"/>
                <a:cs typeface="DejaVu Sans"/>
              </a:rPr>
              <a:t>You would also learn how residual connections, normalization, and gradient clipping help training.</a:t>
            </a:r>
          </a:p>
        </p:txBody>
      </p:sp>
      <p:sp>
        <p:nvSpPr>
          <p:cNvPr id="10" name="">
            <a:extLst xmlns:a="http://schemas.openxmlformats.org/drawingml/2006/main">
              <a:ext uri="{FF2B5EF4-FFF2-40B4-BE49-F238E27FC236}">
                <a16:creationId xmlns:a16="http://schemas.microsoft.com/office/drawing/2014/main" id="{D82626EC-AF38-4DDA-AD71-6A53AD8F9F87}"/>
              </a:ext>
            </a:extLst>
          </p:cNvPr>
          <p:cNvSpPr>
            <a:spLocks xmlns:a="http://schemas.openxmlformats.org/drawingml/2006/main" noGrp="1"/>
          </p:cNvSpPr>
          <p:nvPr/>
        </p:nvSpPr>
        <p:spPr>
          <a:xfrm xmlns:a="http://schemas.openxmlformats.org/drawingml/2006/main">
            <a:off x="11144250" y="656272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975" b="0">
                <a:solidFill>
                  <a:srgbClr val="52627A"/>
                </a:solidFill>
                <a:latin typeface="DejaVu Sans"/>
                <a:ea typeface="DejaVu Sans"/>
                <a:cs typeface="DejaVu Sans"/>
              </a:defRPr>
            </a:pPr>
            <a:r>
              <a:rPr sz="975" b="0">
                <a:solidFill>
                  <a:srgbClr val="52627A"/>
                </a:solidFill>
                <a:latin typeface="DejaVu Sans"/>
                <a:ea typeface="DejaVu Sans"/>
                <a:cs typeface="DejaVu Sans"/>
              </a:rPr>
              <a:t>12</a:t>
            </a:r>
          </a:p>
        </p:txBody>
      </p:sp>
    </p:spTree>
    <p:extLst>
      <p:ext uri="{BB962C8B-B14F-4D97-AF65-F5344CB8AC3E}">
        <p14:creationId xmlns:p14="http://schemas.microsoft.com/office/powerpoint/2010/main" val="10475008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2026-09-23T11:57:59.6750000Z</dcterms:created>
  <dcterms:modified xsi:type="dcterms:W3CDTF">2026-09-23T11:57:59.6760000Z</dcterms:modified>
</coreProperties>
</file>